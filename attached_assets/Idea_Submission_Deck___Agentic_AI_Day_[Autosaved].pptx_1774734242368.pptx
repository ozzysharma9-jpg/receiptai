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3"/>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Arimo Bold" charset="1" panose="020B0704020202020204"/>
      <p:regular r:id="rId26"/>
    </p:embeddedFont>
    <p:embeddedFont>
      <p:font typeface="Canva Sans Bold" charset="1" panose="020B0803030501040103"/>
      <p:regular r:id="rId27"/>
    </p:embeddedFont>
    <p:embeddedFont>
      <p:font typeface="Arial MT Pro" charset="1" panose="020B0502020202020204"/>
      <p:regular r:id="rId28"/>
    </p:embeddedFont>
    <p:embeddedFont>
      <p:font typeface="Arimo" charset="1" panose="020B0604020202020204"/>
      <p:regular r:id="rId30"/>
    </p:embeddedFont>
    <p:embeddedFont>
      <p:font typeface="Canva Sans" charset="1" panose="020B0503030501040103"/>
      <p:regular r:id="rId31"/>
    </p:embeddedFont>
    <p:embeddedFont>
      <p:font typeface="Arial MT Pro Bold" charset="1" panose="020B0802020202020204"/>
      <p:regular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notesMasters/notesMaster1.xml" Type="http://schemas.openxmlformats.org/officeDocument/2006/relationships/notesMaster"/><Relationship Id="rId24" Target="theme/theme2.xml" Type="http://schemas.openxmlformats.org/officeDocument/2006/relationships/theme"/><Relationship Id="rId25" Target="notesSlides/notesSlide1.xml" Type="http://schemas.openxmlformats.org/officeDocument/2006/relationships/notesSlide"/><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notesSlides/notesSlide2.xml" Type="http://schemas.openxmlformats.org/officeDocument/2006/relationships/notesSlide"/><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notesSlides/notesSlide3.xml" Type="http://schemas.openxmlformats.org/officeDocument/2006/relationships/notesSlide"/><Relationship Id="rId33" Target="fonts/font33.fntdata" Type="http://schemas.openxmlformats.org/officeDocument/2006/relationships/font"/><Relationship Id="rId34" Target="notesSlides/notesSlide4.xml" Type="http://schemas.openxmlformats.org/officeDocument/2006/relationships/notesSlide"/><Relationship Id="rId35" Target="notesSlides/notesSlide5.xml" Type="http://schemas.openxmlformats.org/officeDocument/2006/relationships/notesSlide"/><Relationship Id="rId36" Target="notesSlides/notesSlide6.xml" Type="http://schemas.openxmlformats.org/officeDocument/2006/relationships/notesSlide"/><Relationship Id="rId37" Target="notesSlides/notesSlide7.xml" Type="http://schemas.openxmlformats.org/officeDocument/2006/relationships/notesSlide"/><Relationship Id="rId38" Target="notesSlides/notesSlide8.xml" Type="http://schemas.openxmlformats.org/officeDocument/2006/relationships/notesSlide"/><Relationship Id="rId39" Target="notesSlides/notesSlide9.xml" Type="http://schemas.openxmlformats.org/officeDocument/2006/relationships/notesSlide"/><Relationship Id="rId4" Target="theme/theme1.xml" Type="http://schemas.openxmlformats.org/officeDocument/2006/relationships/theme"/><Relationship Id="rId40" Target="notesSlides/notesSlide10.xml" Type="http://schemas.openxmlformats.org/officeDocument/2006/relationships/notesSlid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embeddings/oleObject1.bin" Type="http://schemas.openxmlformats.org/officeDocument/2006/relationships/oleObjec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https://developers.google.com/ml-kit/vision/text-recognition" TargetMode="External" Type="http://schemas.openxmlformats.org/officeDocument/2006/relationships/hyperlink"/><Relationship Id="rId3" Target="https://firebase.google.com/docs" TargetMode="External" Type="http://schemas.openxmlformats.org/officeDocument/2006/relationships/hyperlink"/><Relationship Id="rId4" Target="https://x.ai/api" TargetMode="External" Type="http://schemas.openxmlformats.org/officeDocument/2006/relationships/hyperlink"/><Relationship Id="rId5" Target="https://pub.dev/packages/fl_chart" TargetMode="External" Type="http://schemas.openxmlformats.org/officeDocument/2006/relationships/hyperlink"/></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3.pn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 Id="rId6" Target="../media/image6.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7.pn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0.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9.png" Type="http://schemas.openxmlformats.org/officeDocument/2006/relationships/image"/><Relationship Id="rId4" Target="../media/image11.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9.png" Type="http://schemas.openxmlformats.org/officeDocument/2006/relationships/image"/><Relationship Id="rId4" Target="../media/image12.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4257675"/>
            <a:ext cx="16230600" cy="1733550"/>
          </a:xfrm>
          <a:prstGeom prst="rect">
            <a:avLst/>
          </a:prstGeom>
        </p:spPr>
        <p:txBody>
          <a:bodyPr anchor="t" rtlCol="false" tIns="0" lIns="0" bIns="0" rIns="0">
            <a:spAutoFit/>
          </a:bodyPr>
          <a:lstStyle/>
          <a:p>
            <a:pPr algn="l">
              <a:lnSpc>
                <a:spcPts val="6719"/>
              </a:lnSpc>
            </a:pPr>
            <a:r>
              <a:rPr lang="en-US" b="true" sz="5599">
                <a:solidFill>
                  <a:srgbClr val="000000"/>
                </a:solidFill>
                <a:latin typeface="Arimo Bold"/>
                <a:ea typeface="Arimo Bold"/>
                <a:cs typeface="Arimo Bold"/>
                <a:sym typeface="Arimo Bold"/>
              </a:rPr>
              <a:t> </a:t>
            </a:r>
            <a:r>
              <a:rPr lang="en-US" b="true" sz="5599">
                <a:solidFill>
                  <a:srgbClr val="000000"/>
                </a:solidFill>
                <a:latin typeface="Arimo Bold"/>
                <a:ea typeface="Arimo Bold"/>
                <a:cs typeface="Arimo Bold"/>
                <a:sym typeface="Arimo Bold"/>
              </a:rPr>
              <a:t>Receipt Management for Payment wallet applications</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933450"/>
            <a:ext cx="5190292" cy="927100"/>
          </a:xfrm>
          <a:prstGeom prst="rect">
            <a:avLst/>
          </a:prstGeom>
        </p:spPr>
        <p:txBody>
          <a:bodyPr anchor="t" rtlCol="false" tIns="0" lIns="0" bIns="0" rIns="0">
            <a:spAutoFit/>
          </a:bodyPr>
          <a:lstStyle/>
          <a:p>
            <a:pPr algn="ctr">
              <a:lnSpc>
                <a:spcPts val="7699"/>
              </a:lnSpc>
            </a:pPr>
            <a:r>
              <a:rPr lang="en-US" sz="5499" b="true">
                <a:solidFill>
                  <a:srgbClr val="000000"/>
                </a:solidFill>
                <a:latin typeface="Canva Sans Bold"/>
                <a:ea typeface="Canva Sans Bold"/>
                <a:cs typeface="Canva Sans Bold"/>
                <a:sym typeface="Canva Sans Bold"/>
              </a:rPr>
              <a:t>Team Members</a:t>
            </a:r>
          </a:p>
        </p:txBody>
      </p:sp>
      <p:sp>
        <p:nvSpPr>
          <p:cNvPr name="TextBox 3" id="3"/>
          <p:cNvSpPr txBox="true"/>
          <p:nvPr/>
        </p:nvSpPr>
        <p:spPr>
          <a:xfrm rot="0">
            <a:off x="1028700" y="2719451"/>
            <a:ext cx="16230600" cy="4571873"/>
          </a:xfrm>
          <a:prstGeom prst="rect">
            <a:avLst/>
          </a:prstGeom>
        </p:spPr>
        <p:txBody>
          <a:bodyPr anchor="t" rtlCol="false" tIns="0" lIns="0" bIns="0" rIns="0">
            <a:spAutoFit/>
          </a:bodyPr>
          <a:lstStyle/>
          <a:p>
            <a:pPr algn="l">
              <a:lnSpc>
                <a:spcPts val="6016"/>
              </a:lnSpc>
            </a:pPr>
            <a:r>
              <a:rPr lang="en-US" sz="3200">
                <a:solidFill>
                  <a:srgbClr val="000000"/>
                </a:solidFill>
                <a:latin typeface="Arial MT Pro"/>
                <a:ea typeface="Arial MT Pro"/>
                <a:cs typeface="Arial MT Pro"/>
                <a:sym typeface="Arial MT Pro"/>
              </a:rPr>
              <a:t>1. Simer Preet Singh - 02511804425</a:t>
            </a:r>
          </a:p>
          <a:p>
            <a:pPr algn="l">
              <a:lnSpc>
                <a:spcPts val="6016"/>
              </a:lnSpc>
            </a:pPr>
            <a:r>
              <a:rPr lang="en-US" sz="3200">
                <a:solidFill>
                  <a:srgbClr val="000000"/>
                </a:solidFill>
                <a:latin typeface="Arial MT Pro"/>
                <a:ea typeface="Arial MT Pro"/>
                <a:cs typeface="Arial MT Pro"/>
                <a:sym typeface="Arial MT Pro"/>
              </a:rPr>
              <a:t> 2. Mehul Sharma - 01411804425</a:t>
            </a:r>
          </a:p>
          <a:p>
            <a:pPr algn="l">
              <a:lnSpc>
                <a:spcPts val="6016"/>
              </a:lnSpc>
            </a:pPr>
            <a:r>
              <a:rPr lang="en-US" sz="3200">
                <a:solidFill>
                  <a:srgbClr val="000000"/>
                </a:solidFill>
                <a:latin typeface="Arial MT Pro"/>
                <a:ea typeface="Arial MT Pro"/>
                <a:cs typeface="Arial MT Pro"/>
                <a:sym typeface="Arial MT Pro"/>
              </a:rPr>
              <a:t> 3. Pragya Tyagi - 01611804425 </a:t>
            </a:r>
          </a:p>
          <a:p>
            <a:pPr algn="l">
              <a:lnSpc>
                <a:spcPts val="6016"/>
              </a:lnSpc>
            </a:pPr>
            <a:r>
              <a:rPr lang="en-US" sz="3200">
                <a:solidFill>
                  <a:srgbClr val="000000"/>
                </a:solidFill>
                <a:latin typeface="Arial MT Pro"/>
                <a:ea typeface="Arial MT Pro"/>
                <a:cs typeface="Arial MT Pro"/>
                <a:sym typeface="Arial MT Pro"/>
              </a:rPr>
              <a:t> 4. Raunak Saluja - 03811804425</a:t>
            </a:r>
          </a:p>
          <a:p>
            <a:pPr algn="l">
              <a:lnSpc>
                <a:spcPts val="6016"/>
              </a:lnSpc>
            </a:pPr>
            <a:r>
              <a:rPr lang="en-US" sz="3200">
                <a:solidFill>
                  <a:srgbClr val="000000"/>
                </a:solidFill>
                <a:latin typeface="Arial MT Pro"/>
                <a:ea typeface="Arial MT Pro"/>
                <a:cs typeface="Arial MT Pro"/>
                <a:sym typeface="Arial MT Pro"/>
              </a:rPr>
              <a:t> 5. Keshav Mishra- 04811804425</a:t>
            </a:r>
          </a:p>
          <a:p>
            <a:pPr algn="l">
              <a:lnSpc>
                <a:spcPts val="6016"/>
              </a:lnSpc>
            </a:pPr>
            <a:r>
              <a:rPr lang="en-US" sz="3200">
                <a:solidFill>
                  <a:srgbClr val="000000"/>
                </a:solidFill>
                <a:latin typeface="Arial MT Pro"/>
                <a:ea typeface="Arial MT Pro"/>
                <a:cs typeface="Arial MT Pro"/>
                <a:sym typeface="Arial MT Pro"/>
              </a:rPr>
              <a:t> 6. Kanishk Chauhan- 05011804425 </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1000125"/>
            <a:ext cx="16230600" cy="9744075"/>
          </a:xfrm>
          <a:prstGeom prst="rect">
            <a:avLst/>
          </a:prstGeom>
        </p:spPr>
        <p:txBody>
          <a:bodyPr anchor="t" rtlCol="false" tIns="0" lIns="0" bIns="0" rIns="0">
            <a:spAutoFit/>
          </a:bodyPr>
          <a:lstStyle/>
          <a:p>
            <a:pPr algn="just">
              <a:lnSpc>
                <a:spcPts val="7679"/>
              </a:lnSpc>
            </a:pPr>
            <a:r>
              <a:rPr lang="en-US" b="true" sz="6399">
                <a:solidFill>
                  <a:srgbClr val="000000"/>
                </a:solidFill>
                <a:latin typeface="Arimo Bold"/>
                <a:ea typeface="Arimo Bold"/>
                <a:cs typeface="Arimo Bold"/>
                <a:sym typeface="Arimo Bold"/>
              </a:rPr>
              <a:t>Brief about the idea</a:t>
            </a:r>
          </a:p>
          <a:p>
            <a:pPr algn="just">
              <a:lnSpc>
                <a:spcPts val="3839"/>
              </a:lnSpc>
            </a:pPr>
          </a:p>
          <a:p>
            <a:pPr algn="just">
              <a:lnSpc>
                <a:spcPts val="3840"/>
              </a:lnSpc>
            </a:pPr>
            <a:r>
              <a:rPr lang="en-US" sz="3200">
                <a:solidFill>
                  <a:srgbClr val="000000"/>
                </a:solidFill>
                <a:latin typeface="Arimo"/>
                <a:ea typeface="Arimo"/>
                <a:cs typeface="Arimo"/>
                <a:sym typeface="Arimo"/>
              </a:rPr>
              <a:t>ReceiptAI is an innovative and sophisticated mobile application developed to revolutionize personal financial management by leveraging the power of artificial intelligence (AI) and optical character recognition (OCR) technologies.</a:t>
            </a:r>
          </a:p>
          <a:p>
            <a:pPr algn="just">
              <a:lnSpc>
                <a:spcPts val="3840"/>
              </a:lnSpc>
            </a:pPr>
          </a:p>
          <a:p>
            <a:pPr algn="just">
              <a:lnSpc>
                <a:spcPts val="3840"/>
              </a:lnSpc>
            </a:pPr>
            <a:r>
              <a:rPr lang="en-US" sz="3200">
                <a:solidFill>
                  <a:srgbClr val="000000"/>
                </a:solidFill>
                <a:latin typeface="Arimo"/>
                <a:ea typeface="Arimo"/>
                <a:cs typeface="Arimo"/>
                <a:sym typeface="Arimo"/>
              </a:rPr>
              <a:t>The application</a:t>
            </a:r>
            <a:r>
              <a:rPr lang="en-US" sz="3200">
                <a:solidFill>
                  <a:srgbClr val="000000"/>
                </a:solidFill>
                <a:latin typeface="Arimo"/>
                <a:ea typeface="Arimo"/>
                <a:cs typeface="Arimo"/>
                <a:sym typeface="Arimo"/>
              </a:rPr>
              <a:t> enables users to effortlessly capture images of their physical receipts using their smartphone camera. Once the image is uploaded, ReceiptAI’s advanced OCR engine automatically scans and extracts key details—such as merchant name, date, category, and total amount—eliminating the need for manual data entry.</a:t>
            </a:r>
          </a:p>
          <a:p>
            <a:pPr algn="just">
              <a:lnSpc>
                <a:spcPts val="3840"/>
              </a:lnSpc>
            </a:pPr>
          </a:p>
          <a:p>
            <a:pPr algn="just">
              <a:lnSpc>
                <a:spcPts val="3840"/>
              </a:lnSpc>
            </a:pPr>
            <a:r>
              <a:rPr lang="en-US" sz="3200">
                <a:solidFill>
                  <a:srgbClr val="000000"/>
                </a:solidFill>
                <a:latin typeface="Arimo"/>
                <a:ea typeface="Arimo"/>
                <a:cs typeface="Arimo"/>
                <a:sym typeface="Arimo"/>
              </a:rPr>
              <a:t>Through intelligent data categorization and analysis, the app provides users with a clear and organized overview of their spending habits. ReceiptAI not only tracks expenses in real-time but also identifies trends, detects anomalies, and provides personalized financial insights to help users make smarter budgeting and saving decisions.</a:t>
            </a:r>
          </a:p>
          <a:p>
            <a:pPr algn="just">
              <a:lnSpc>
                <a:spcPts val="3840"/>
              </a:lnSpc>
            </a:pPr>
          </a:p>
          <a:p>
            <a:pPr algn="just">
              <a:lnSpc>
                <a:spcPts val="3840"/>
              </a:lnSpc>
            </a:pPr>
          </a:p>
          <a:p>
            <a:pPr algn="just">
              <a:lnSpc>
                <a:spcPts val="3839"/>
              </a:lnSpc>
            </a:pPr>
          </a:p>
          <a:p>
            <a:pPr algn="just">
              <a:lnSpc>
                <a:spcPts val="3840"/>
              </a:lnSpc>
            </a:pP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933450"/>
            <a:ext cx="16230600" cy="8277854"/>
          </a:xfrm>
          <a:prstGeom prst="rect">
            <a:avLst/>
          </a:prstGeom>
        </p:spPr>
        <p:txBody>
          <a:bodyPr anchor="t" rtlCol="false" tIns="0" lIns="0" bIns="0" rIns="0">
            <a:spAutoFit/>
          </a:bodyPr>
          <a:lstStyle/>
          <a:p>
            <a:pPr algn="l">
              <a:lnSpc>
                <a:spcPts val="7699"/>
              </a:lnSpc>
            </a:pPr>
            <a:r>
              <a:rPr lang="en-US" sz="5499" b="true">
                <a:solidFill>
                  <a:srgbClr val="000000"/>
                </a:solidFill>
                <a:latin typeface="Canva Sans Bold"/>
                <a:ea typeface="Canva Sans Bold"/>
                <a:cs typeface="Canva Sans Bold"/>
                <a:sym typeface="Canva Sans Bold"/>
              </a:rPr>
              <a:t>The Problem struggles to manage personal finances because</a:t>
            </a:r>
          </a:p>
          <a:p>
            <a:pPr algn="l">
              <a:lnSpc>
                <a:spcPts val="4480"/>
              </a:lnSpc>
            </a:pPr>
          </a:p>
          <a:p>
            <a:pPr algn="l">
              <a:lnSpc>
                <a:spcPts val="4480"/>
              </a:lnSpc>
            </a:pPr>
            <a:r>
              <a:rPr lang="en-US" sz="3200">
                <a:solidFill>
                  <a:srgbClr val="000000"/>
                </a:solidFill>
                <a:latin typeface="Canva Sans"/>
                <a:ea typeface="Canva Sans"/>
                <a:cs typeface="Canva Sans"/>
                <a:sym typeface="Canva Sans"/>
              </a:rPr>
              <a:t>struggle to manage pers</a:t>
            </a:r>
            <a:r>
              <a:rPr lang="en-US" sz="3200">
                <a:solidFill>
                  <a:srgbClr val="000000"/>
                </a:solidFill>
                <a:latin typeface="Canva Sans"/>
                <a:ea typeface="Canva Sans"/>
                <a:cs typeface="Canva Sans"/>
                <a:sym typeface="Canva Sans"/>
              </a:rPr>
              <a:t>onal finances because:</a:t>
            </a:r>
          </a:p>
          <a:p>
            <a:pPr algn="l" marL="690881" indent="-345440" lvl="1">
              <a:lnSpc>
                <a:spcPts val="4480"/>
              </a:lnSpc>
              <a:buFont typeface="Arial"/>
              <a:buChar char="•"/>
            </a:pPr>
            <a:r>
              <a:rPr lang="en-US" sz="3200">
                <a:solidFill>
                  <a:srgbClr val="000000"/>
                </a:solidFill>
                <a:latin typeface="Canva Sans"/>
                <a:ea typeface="Canva Sans"/>
                <a:cs typeface="Canva Sans"/>
                <a:sym typeface="Canva Sans"/>
              </a:rPr>
              <a:t>Receipts get lost – paper or digital, they vanish quickly</a:t>
            </a:r>
          </a:p>
          <a:p>
            <a:pPr algn="l" marL="690881" indent="-345440" lvl="1">
              <a:lnSpc>
                <a:spcPts val="4480"/>
              </a:lnSpc>
              <a:buFont typeface="Arial"/>
              <a:buChar char="•"/>
            </a:pPr>
            <a:r>
              <a:rPr lang="en-US" sz="3200">
                <a:solidFill>
                  <a:srgbClr val="000000"/>
                </a:solidFill>
                <a:latin typeface="Canva Sans"/>
                <a:ea typeface="Canva Sans"/>
                <a:cs typeface="Canva Sans"/>
                <a:sym typeface="Canva Sans"/>
              </a:rPr>
              <a:t>Manual tracking is exhausting – typing every expense leads to errors &amp; abandonment</a:t>
            </a:r>
          </a:p>
          <a:p>
            <a:pPr algn="l" marL="690881" indent="-345440" lvl="1">
              <a:lnSpc>
                <a:spcPts val="4480"/>
              </a:lnSpc>
              <a:buFont typeface="Arial"/>
              <a:buChar char="•"/>
            </a:pPr>
            <a:r>
              <a:rPr lang="en-US" sz="3200">
                <a:solidFill>
                  <a:srgbClr val="000000"/>
                </a:solidFill>
                <a:latin typeface="Canva Sans"/>
                <a:ea typeface="Canva Sans"/>
                <a:cs typeface="Canva Sans"/>
                <a:sym typeface="Canva Sans"/>
              </a:rPr>
              <a:t>No real-time clarity – users can’t see where money goes until it’s too late</a:t>
            </a:r>
          </a:p>
          <a:p>
            <a:pPr algn="l" marL="690881" indent="-345440" lvl="1">
              <a:lnSpc>
                <a:spcPts val="4480"/>
              </a:lnSpc>
              <a:buFont typeface="Arial"/>
              <a:buChar char="•"/>
            </a:pPr>
            <a:r>
              <a:rPr lang="en-US" sz="3200">
                <a:solidFill>
                  <a:srgbClr val="000000"/>
                </a:solidFill>
                <a:latin typeface="Canva Sans"/>
                <a:ea typeface="Canva Sans"/>
                <a:cs typeface="Canva Sans"/>
                <a:sym typeface="Canva Sans"/>
              </a:rPr>
              <a:t>Generic apps fail to engage – static charts and no personalized guidance</a:t>
            </a:r>
          </a:p>
          <a:p>
            <a:pPr algn="l">
              <a:lnSpc>
                <a:spcPts val="4480"/>
              </a:lnSpc>
            </a:pPr>
          </a:p>
          <a:p>
            <a:pPr algn="l">
              <a:lnSpc>
                <a:spcPts val="4480"/>
              </a:lnSpc>
            </a:pPr>
            <a:r>
              <a:rPr lang="en-US" sz="3200">
                <a:solidFill>
                  <a:srgbClr val="000000"/>
                </a:solidFill>
                <a:latin typeface="Canva Sans"/>
                <a:ea typeface="Canva Sans"/>
                <a:cs typeface="Canva Sans"/>
                <a:sym typeface="Canva Sans"/>
              </a:rPr>
              <a:t>70% of users abandon budgeting apps within 30 days due to friction and a lack of insight.</a:t>
            </a:r>
          </a:p>
          <a:p>
            <a:pPr algn="ctr">
              <a:lnSpc>
                <a:spcPts val="5880"/>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aphicFrame>
        <p:nvGraphicFramePr>
          <p:cNvPr name="Object 2" id="2"/>
          <p:cNvGraphicFramePr/>
          <p:nvPr/>
        </p:nvGraphicFramePr>
        <p:xfrm>
          <a:off x="1028700" y="3036778"/>
          <a:ext cx="3771900" cy="3771900"/>
        </p:xfrm>
        <a:graphic>
          <a:graphicData uri="http://schemas.openxmlformats.org/presentationml/2006/ole">
            <p:oleObj imgW="4521200" imgH="45212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3" id="3"/>
          <p:cNvSpPr txBox="true"/>
          <p:nvPr/>
        </p:nvSpPr>
        <p:spPr>
          <a:xfrm rot="0">
            <a:off x="1028700" y="931617"/>
            <a:ext cx="16566186" cy="1898650"/>
          </a:xfrm>
          <a:prstGeom prst="rect">
            <a:avLst/>
          </a:prstGeom>
        </p:spPr>
        <p:txBody>
          <a:bodyPr anchor="t" rtlCol="false" tIns="0" lIns="0" bIns="0" rIns="0">
            <a:spAutoFit/>
          </a:bodyPr>
          <a:lstStyle/>
          <a:p>
            <a:pPr algn="l">
              <a:lnSpc>
                <a:spcPts val="7699"/>
              </a:lnSpc>
              <a:spcBef>
                <a:spcPct val="0"/>
              </a:spcBef>
            </a:pPr>
            <a:r>
              <a:rPr lang="en-US" b="true" sz="5499">
                <a:solidFill>
                  <a:srgbClr val="000000"/>
                </a:solidFill>
                <a:latin typeface="Canva Sans Bold"/>
                <a:ea typeface="Canva Sans Bold"/>
                <a:cs typeface="Canva Sans Bold"/>
                <a:sym typeface="Canva Sans Bold"/>
              </a:rPr>
              <a:t>Our Solution: ReceiptAI application that works for Everyone</a:t>
            </a: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09650" y="848712"/>
            <a:ext cx="16230600" cy="8629650"/>
          </a:xfrm>
          <a:prstGeom prst="rect">
            <a:avLst/>
          </a:prstGeom>
        </p:spPr>
        <p:txBody>
          <a:bodyPr anchor="t" rtlCol="false" tIns="0" lIns="0" bIns="0" rIns="0">
            <a:spAutoFit/>
          </a:bodyPr>
          <a:lstStyle/>
          <a:p>
            <a:pPr algn="l">
              <a:lnSpc>
                <a:spcPts val="6599"/>
              </a:lnSpc>
            </a:pPr>
            <a:r>
              <a:rPr lang="en-US" b="true" sz="5499">
                <a:solidFill>
                  <a:srgbClr val="000000"/>
                </a:solidFill>
                <a:latin typeface="Arimo Bold"/>
                <a:ea typeface="Arimo Bold"/>
                <a:cs typeface="Arimo Bold"/>
                <a:sym typeface="Arimo Bold"/>
              </a:rPr>
              <a:t>List of features offered by our solution:</a:t>
            </a:r>
          </a:p>
          <a:p>
            <a:pPr algn="l">
              <a:lnSpc>
                <a:spcPts val="3840"/>
              </a:lnSpc>
            </a:pPr>
          </a:p>
          <a:p>
            <a:pPr algn="l">
              <a:lnSpc>
                <a:spcPts val="3840"/>
              </a:lnSpc>
            </a:pPr>
            <a:r>
              <a:rPr lang="en-US" b="true" sz="3200">
                <a:solidFill>
                  <a:srgbClr val="000000"/>
                </a:solidFill>
                <a:latin typeface="Arial MT Pro Bold"/>
                <a:ea typeface="Arial MT Pro Bold"/>
                <a:cs typeface="Arial MT Pro Bold"/>
                <a:sym typeface="Arial MT Pro Bold"/>
              </a:rPr>
              <a:t>• Receipt Capture &amp; Data Extraction</a:t>
            </a:r>
          </a:p>
          <a:p>
            <a:pPr algn="l">
              <a:lnSpc>
                <a:spcPts val="3840"/>
              </a:lnSpc>
            </a:pPr>
            <a:r>
              <a:rPr lang="en-US" sz="3200">
                <a:solidFill>
                  <a:srgbClr val="000000"/>
                </a:solidFill>
                <a:latin typeface="Arial MT Pro"/>
                <a:ea typeface="Arial MT Pro"/>
                <a:cs typeface="Arial MT Pro"/>
                <a:sym typeface="Arial MT Pro"/>
              </a:rPr>
              <a:t>U</a:t>
            </a:r>
            <a:r>
              <a:rPr lang="en-US" sz="3200">
                <a:solidFill>
                  <a:srgbClr val="000000"/>
                </a:solidFill>
                <a:latin typeface="Arial MT Pro"/>
                <a:ea typeface="Arial MT Pro"/>
                <a:cs typeface="Arial MT Pro"/>
                <a:sym typeface="Arial MT Pro"/>
              </a:rPr>
              <a:t>sers may upload images (PNG/JPG) or use the device camera. Advanced OCR (via Google ML Kit) accurately identifies the total amount, the merchant name, and the transaction date.</a:t>
            </a:r>
          </a:p>
          <a:p>
            <a:pPr algn="l">
              <a:lnSpc>
                <a:spcPts val="3840"/>
              </a:lnSpc>
            </a:pPr>
          </a:p>
          <a:p>
            <a:pPr algn="l">
              <a:lnSpc>
                <a:spcPts val="3840"/>
              </a:lnSpc>
            </a:pPr>
          </a:p>
          <a:p>
            <a:pPr algn="l">
              <a:lnSpc>
                <a:spcPts val="3840"/>
              </a:lnSpc>
            </a:pPr>
            <a:r>
              <a:rPr lang="en-US" b="true" sz="3200">
                <a:solidFill>
                  <a:srgbClr val="000000"/>
                </a:solidFill>
                <a:latin typeface="Arial MT Pro Bold"/>
                <a:ea typeface="Arial MT Pro Bold"/>
                <a:cs typeface="Arial MT Pro Bold"/>
                <a:sym typeface="Arial MT Pro Bold"/>
              </a:rPr>
              <a:t>• Automated Expense Categorization</a:t>
            </a:r>
          </a:p>
          <a:p>
            <a:pPr algn="l">
              <a:lnSpc>
                <a:spcPts val="3840"/>
              </a:lnSpc>
            </a:pPr>
            <a:r>
              <a:rPr lang="en-US" sz="3200">
                <a:solidFill>
                  <a:srgbClr val="000000"/>
                </a:solidFill>
                <a:latin typeface="Arial MT Pro"/>
                <a:ea typeface="Arial MT Pro"/>
                <a:cs typeface="Arial MT Pro"/>
                <a:sym typeface="Arial MT Pro"/>
              </a:rPr>
              <a:t>T</a:t>
            </a:r>
            <a:r>
              <a:rPr lang="en-US" sz="3200">
                <a:solidFill>
                  <a:srgbClr val="000000"/>
                </a:solidFill>
                <a:latin typeface="Arial MT Pro"/>
                <a:ea typeface="Arial MT Pro"/>
                <a:cs typeface="Arial MT Pro"/>
                <a:sym typeface="Arial MT Pro"/>
              </a:rPr>
              <a:t>ransactions are intelligently classified into predefined categories such as Groceries, Dining, Transport, and Coffee using rule-based and contextual analysis.</a:t>
            </a:r>
          </a:p>
          <a:p>
            <a:pPr algn="l">
              <a:lnSpc>
                <a:spcPts val="3840"/>
              </a:lnSpc>
            </a:pPr>
          </a:p>
          <a:p>
            <a:pPr algn="l">
              <a:lnSpc>
                <a:spcPts val="3840"/>
              </a:lnSpc>
            </a:pPr>
          </a:p>
          <a:p>
            <a:pPr algn="l">
              <a:lnSpc>
                <a:spcPts val="3840"/>
              </a:lnSpc>
            </a:pPr>
            <a:r>
              <a:rPr lang="en-US" sz="3200">
                <a:solidFill>
                  <a:srgbClr val="000000"/>
                </a:solidFill>
                <a:latin typeface="Arial MT Pro"/>
                <a:ea typeface="Arial MT Pro"/>
                <a:cs typeface="Arial MT Pro"/>
                <a:sym typeface="Arial MT Pro"/>
              </a:rPr>
              <a:t>•</a:t>
            </a:r>
            <a:r>
              <a:rPr lang="en-US" b="true" sz="3200">
                <a:solidFill>
                  <a:srgbClr val="000000"/>
                </a:solidFill>
                <a:latin typeface="Arial MT Pro Bold"/>
                <a:ea typeface="Arial MT Pro Bold"/>
                <a:cs typeface="Arial MT Pro Bold"/>
                <a:sym typeface="Arial MT Pro Bold"/>
              </a:rPr>
              <a:t> Insights Dashboard</a:t>
            </a:r>
          </a:p>
          <a:p>
            <a:pPr algn="l">
              <a:lnSpc>
                <a:spcPts val="3840"/>
              </a:lnSpc>
            </a:pPr>
            <a:r>
              <a:rPr lang="en-US" sz="3200">
                <a:solidFill>
                  <a:srgbClr val="000000"/>
                </a:solidFill>
                <a:latin typeface="Arial MT Pro"/>
                <a:ea typeface="Arial MT Pro"/>
                <a:cs typeface="Arial MT Pro"/>
                <a:sym typeface="Arial MT Pro"/>
              </a:rPr>
              <a:t>A</a:t>
            </a:r>
            <a:r>
              <a:rPr lang="en-US" sz="3200">
                <a:solidFill>
                  <a:srgbClr val="000000"/>
                </a:solidFill>
                <a:latin typeface="Arial MT Pro"/>
                <a:ea typeface="Arial MT Pro"/>
                <a:cs typeface="Arial MT Pro"/>
                <a:sym typeface="Arial MT Pro"/>
              </a:rPr>
              <a:t> dedicated analytics view presents spending aggregated by category, displayed through clear, interactive bar charts for comprehensive financial visibility.</a:t>
            </a:r>
          </a:p>
          <a:p>
            <a:pPr algn="l">
              <a:lnSpc>
                <a:spcPts val="3840"/>
              </a:lnSpc>
            </a:pP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962025"/>
            <a:ext cx="16230600" cy="7353300"/>
          </a:xfrm>
          <a:prstGeom prst="rect">
            <a:avLst/>
          </a:prstGeom>
        </p:spPr>
        <p:txBody>
          <a:bodyPr anchor="t" rtlCol="false" tIns="0" lIns="0" bIns="0" rIns="0">
            <a:spAutoFit/>
          </a:bodyPr>
          <a:lstStyle/>
          <a:p>
            <a:pPr algn="l" marL="0" indent="0" lvl="0">
              <a:lnSpc>
                <a:spcPts val="3840"/>
              </a:lnSpc>
              <a:spcBef>
                <a:spcPct val="0"/>
              </a:spcBef>
            </a:pPr>
            <a:r>
              <a:rPr lang="en-US" b="true" sz="3200" strike="noStrike" u="none">
                <a:solidFill>
                  <a:srgbClr val="000000"/>
                </a:solidFill>
                <a:latin typeface="Arial MT Pro Bold"/>
                <a:ea typeface="Arial MT Pro Bold"/>
                <a:cs typeface="Arial MT Pro Bold"/>
                <a:sym typeface="Arial MT Pro Bold"/>
              </a:rPr>
              <a:t>• Budget Overview</a:t>
            </a:r>
          </a:p>
          <a:p>
            <a:pPr algn="l" marL="0" indent="0" lvl="0">
              <a:lnSpc>
                <a:spcPts val="3840"/>
              </a:lnSpc>
              <a:spcBef>
                <a:spcPct val="0"/>
              </a:spcBef>
            </a:pPr>
            <a:r>
              <a:rPr lang="en-US" sz="3200" strike="noStrike" u="none">
                <a:solidFill>
                  <a:srgbClr val="000000"/>
                </a:solidFill>
                <a:latin typeface="Arial MT Pro"/>
                <a:ea typeface="Arial MT Pro"/>
                <a:cs typeface="Arial MT Pro"/>
                <a:sym typeface="Arial MT Pro"/>
              </a:rPr>
              <a:t>A dynamic pie chart visualization illustrates the proportional distribution of monthly expenditures across all categories.</a:t>
            </a:r>
          </a:p>
          <a:p>
            <a:pPr algn="l" marL="0" indent="0" lvl="0">
              <a:lnSpc>
                <a:spcPts val="3840"/>
              </a:lnSpc>
              <a:spcBef>
                <a:spcPct val="0"/>
              </a:spcBef>
            </a:pPr>
          </a:p>
          <a:p>
            <a:pPr algn="l" marL="0" indent="0" lvl="0">
              <a:lnSpc>
                <a:spcPts val="3840"/>
              </a:lnSpc>
              <a:spcBef>
                <a:spcPct val="0"/>
              </a:spcBef>
            </a:pPr>
          </a:p>
          <a:p>
            <a:pPr algn="l" marL="0" indent="0" lvl="0">
              <a:lnSpc>
                <a:spcPts val="3840"/>
              </a:lnSpc>
              <a:spcBef>
                <a:spcPct val="0"/>
              </a:spcBef>
            </a:pPr>
            <a:r>
              <a:rPr lang="en-US" b="true" sz="3200" strike="noStrike" u="none">
                <a:solidFill>
                  <a:srgbClr val="000000"/>
                </a:solidFill>
                <a:latin typeface="Arial MT Pro Bold"/>
                <a:ea typeface="Arial MT Pro Bold"/>
                <a:cs typeface="Arial MT Pro Bold"/>
                <a:sym typeface="Arial MT Pro Bold"/>
              </a:rPr>
              <a:t>• AI-Powered Financial Assistant</a:t>
            </a:r>
          </a:p>
          <a:p>
            <a:pPr algn="l" marL="0" indent="0" lvl="0">
              <a:lnSpc>
                <a:spcPts val="3840"/>
              </a:lnSpc>
              <a:spcBef>
                <a:spcPct val="0"/>
              </a:spcBef>
            </a:pPr>
            <a:r>
              <a:rPr lang="en-US" sz="3200" strike="noStrike" u="none">
                <a:solidFill>
                  <a:srgbClr val="000000"/>
                </a:solidFill>
                <a:latin typeface="Arial MT Pro"/>
                <a:ea typeface="Arial MT Pro"/>
                <a:cs typeface="Arial MT Pro"/>
                <a:sym typeface="Arial MT Pro"/>
              </a:rPr>
              <a:t>Integrated with xAI’s Grok API, the assistant enables natural language queries (e.g., “What is my total spending on groceries this month?”) and delivers personalized, data-driven responses and savings recommendations.</a:t>
            </a:r>
          </a:p>
          <a:p>
            <a:pPr algn="l" marL="0" indent="0" lvl="0">
              <a:lnSpc>
                <a:spcPts val="3840"/>
              </a:lnSpc>
              <a:spcBef>
                <a:spcPct val="0"/>
              </a:spcBef>
            </a:pPr>
          </a:p>
          <a:p>
            <a:pPr algn="l" marL="0" indent="0" lvl="0">
              <a:lnSpc>
                <a:spcPts val="3840"/>
              </a:lnSpc>
              <a:spcBef>
                <a:spcPct val="0"/>
              </a:spcBef>
            </a:pPr>
          </a:p>
          <a:p>
            <a:pPr algn="l" marL="0" indent="0" lvl="0">
              <a:lnSpc>
                <a:spcPts val="3840"/>
              </a:lnSpc>
              <a:spcBef>
                <a:spcPct val="0"/>
              </a:spcBef>
            </a:pPr>
            <a:r>
              <a:rPr lang="en-US" b="true" sz="3200" strike="noStrike" u="none">
                <a:solidFill>
                  <a:srgbClr val="000000"/>
                </a:solidFill>
                <a:latin typeface="Arial MT Pro Bold"/>
                <a:ea typeface="Arial MT Pro Bold"/>
                <a:cs typeface="Arial MT Pro Bold"/>
                <a:sym typeface="Arial MT Pro Bold"/>
              </a:rPr>
              <a:t>• Offline Functionality</a:t>
            </a:r>
          </a:p>
          <a:p>
            <a:pPr algn="l" marL="0" indent="0" lvl="0">
              <a:lnSpc>
                <a:spcPts val="3840"/>
              </a:lnSpc>
              <a:spcBef>
                <a:spcPct val="0"/>
              </a:spcBef>
            </a:pPr>
            <a:r>
              <a:rPr lang="en-US" sz="3200" strike="noStrike" u="none">
                <a:solidFill>
                  <a:srgbClr val="000000"/>
                </a:solidFill>
                <a:latin typeface="Arial MT Pro"/>
                <a:ea typeface="Arial MT Pro"/>
                <a:cs typeface="Arial MT Pro"/>
                <a:sym typeface="Arial MT Pro"/>
              </a:rPr>
              <a:t>Receipt processing and local storage are supported without an internet connection; data synchronizes seamlessly upon reconnection.</a:t>
            </a:r>
          </a:p>
          <a:p>
            <a:pPr algn="l" marL="0" indent="0" lvl="0">
              <a:lnSpc>
                <a:spcPts val="3840"/>
              </a:lnSpc>
              <a:spcBef>
                <a:spcPct val="0"/>
              </a:spcBef>
            </a:pPr>
            <a:r>
              <a:rPr lang="en-US" sz="3200" strike="noStrike" u="none">
                <a:solidFill>
                  <a:srgbClr val="000000"/>
                </a:solidFill>
                <a:latin typeface="Arial MT Pro"/>
                <a:ea typeface="Arial MT Pro"/>
                <a:cs typeface="Arial MT Pro"/>
                <a:sym typeface="Arial MT Pro"/>
              </a:rPr>
              <a:t> wallet pass</a:t>
            </a:r>
          </a:p>
        </p:txBody>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904875"/>
            <a:ext cx="16230600" cy="2812923"/>
          </a:xfrm>
          <a:prstGeom prst="rect">
            <a:avLst/>
          </a:prstGeom>
        </p:spPr>
        <p:txBody>
          <a:bodyPr anchor="t" rtlCol="false" tIns="0" lIns="0" bIns="0" rIns="0">
            <a:spAutoFit/>
          </a:bodyPr>
          <a:lstStyle/>
          <a:p>
            <a:pPr algn="l">
              <a:lnSpc>
                <a:spcPts val="4416"/>
              </a:lnSpc>
            </a:pPr>
            <a:r>
              <a:rPr lang="en-US" sz="3200">
                <a:solidFill>
                  <a:srgbClr val="595959"/>
                </a:solidFill>
                <a:latin typeface="Arial MT Pro"/>
                <a:ea typeface="Arial MT Pro"/>
                <a:cs typeface="Arial MT Pro"/>
                <a:sym typeface="Arial MT Pro"/>
              </a:rPr>
              <a:t>• </a:t>
            </a:r>
            <a:r>
              <a:rPr lang="en-US" sz="3200" b="true">
                <a:solidFill>
                  <a:srgbClr val="000000"/>
                </a:solidFill>
                <a:latin typeface="Arial MT Pro Bold"/>
                <a:ea typeface="Arial MT Pro Bold"/>
                <a:cs typeface="Arial MT Pro Bold"/>
                <a:sym typeface="Arial MT Pro Bold"/>
              </a:rPr>
              <a:t>Data Privacy &amp; Security</a:t>
            </a:r>
          </a:p>
          <a:p>
            <a:pPr algn="l">
              <a:lnSpc>
                <a:spcPts val="4416"/>
              </a:lnSpc>
            </a:pPr>
            <a:r>
              <a:rPr lang="en-US" sz="3200">
                <a:solidFill>
                  <a:srgbClr val="000000"/>
                </a:solidFill>
                <a:latin typeface="Arial MT Pro"/>
                <a:ea typeface="Arial MT Pro"/>
                <a:cs typeface="Arial MT Pro"/>
                <a:sym typeface="Arial MT Pro"/>
              </a:rPr>
              <a:t>On-device OCR processing, end-to-end encryption, and compliance with privacy standards ensure user data remains secure and confidential. No banking credentials are required or stored.</a:t>
            </a:r>
          </a:p>
          <a:p>
            <a:pPr algn="l">
              <a:lnSpc>
                <a:spcPts val="4416"/>
              </a:lnSpc>
            </a:pPr>
          </a:p>
        </p:txBody>
      </p:sp>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1000125"/>
            <a:ext cx="16230600" cy="857250"/>
          </a:xfrm>
          <a:prstGeom prst="rect">
            <a:avLst/>
          </a:prstGeom>
        </p:spPr>
        <p:txBody>
          <a:bodyPr anchor="t" rtlCol="false" tIns="0" lIns="0" bIns="0" rIns="0">
            <a:spAutoFit/>
          </a:bodyPr>
          <a:lstStyle/>
          <a:p>
            <a:pPr algn="l">
              <a:lnSpc>
                <a:spcPts val="6599"/>
              </a:lnSpc>
            </a:pPr>
            <a:r>
              <a:rPr lang="en-US" b="true" sz="5499">
                <a:solidFill>
                  <a:srgbClr val="000000"/>
                </a:solidFill>
                <a:latin typeface="Arimo Bold"/>
                <a:ea typeface="Arimo Bold"/>
                <a:cs typeface="Arimo Bold"/>
                <a:sym typeface="Arimo Bold"/>
              </a:rPr>
              <a:t>Technologies to be used in the solution</a:t>
            </a:r>
          </a:p>
        </p:txBody>
      </p:sp>
      <p:grpSp>
        <p:nvGrpSpPr>
          <p:cNvPr name="Group 3" id="3"/>
          <p:cNvGrpSpPr/>
          <p:nvPr/>
        </p:nvGrpSpPr>
        <p:grpSpPr>
          <a:xfrm rot="0">
            <a:off x="1028700" y="2072259"/>
            <a:ext cx="13408588" cy="6142482"/>
            <a:chOff x="0" y="0"/>
            <a:chExt cx="17878117" cy="8189976"/>
          </a:xfrm>
        </p:grpSpPr>
        <p:sp>
          <p:nvSpPr>
            <p:cNvPr name="Freeform 4" id="4"/>
            <p:cNvSpPr/>
            <p:nvPr/>
          </p:nvSpPr>
          <p:spPr>
            <a:xfrm flipH="false" flipV="false" rot="0">
              <a:off x="0" y="0"/>
              <a:ext cx="17878118" cy="8189975"/>
            </a:xfrm>
            <a:custGeom>
              <a:avLst/>
              <a:gdLst/>
              <a:ahLst/>
              <a:cxnLst/>
              <a:rect r="r" b="b" t="t" l="l"/>
              <a:pathLst>
                <a:path h="8189975" w="17878118">
                  <a:moveTo>
                    <a:pt x="0" y="0"/>
                  </a:moveTo>
                  <a:lnTo>
                    <a:pt x="17878118" y="0"/>
                  </a:lnTo>
                  <a:lnTo>
                    <a:pt x="17878118" y="8189975"/>
                  </a:lnTo>
                  <a:lnTo>
                    <a:pt x="0" y="8189975"/>
                  </a:lnTo>
                  <a:close/>
                </a:path>
              </a:pathLst>
            </a:custGeom>
            <a:solidFill>
              <a:srgbClr val="000000">
                <a:alpha val="0"/>
              </a:srgbClr>
            </a:solidFill>
          </p:spPr>
        </p:sp>
        <p:sp>
          <p:nvSpPr>
            <p:cNvPr name="TextBox 5" id="5"/>
            <p:cNvSpPr txBox="true"/>
            <p:nvPr/>
          </p:nvSpPr>
          <p:spPr>
            <a:xfrm>
              <a:off x="0" y="-428625"/>
              <a:ext cx="17878117" cy="8618601"/>
            </a:xfrm>
            <a:prstGeom prst="rect">
              <a:avLst/>
            </a:prstGeom>
          </p:spPr>
          <p:txBody>
            <a:bodyPr anchor="ctr" rtlCol="false" tIns="0" lIns="0" bIns="0" rIns="0"/>
            <a:lstStyle/>
            <a:p>
              <a:pPr algn="just" marL="771756" indent="-385878" lvl="1">
                <a:lnSpc>
                  <a:spcPts val="7680"/>
                </a:lnSpc>
                <a:buFont typeface="Arial"/>
                <a:buChar char="•"/>
              </a:pPr>
              <a:r>
                <a:rPr lang="en-US" b="true" sz="3200">
                  <a:solidFill>
                    <a:srgbClr val="000000"/>
                  </a:solidFill>
                  <a:latin typeface="Arial MT Pro Bold"/>
                  <a:ea typeface="Arial MT Pro Bold"/>
                  <a:cs typeface="Arial MT Pro Bold"/>
                  <a:sym typeface="Arial MT Pro Bold"/>
                </a:rPr>
                <a:t>Flutter – </a:t>
              </a:r>
              <a:r>
                <a:rPr lang="en-US" sz="3200">
                  <a:solidFill>
                    <a:srgbClr val="000000"/>
                  </a:solidFill>
                  <a:latin typeface="Arial MT Pro"/>
                  <a:ea typeface="Arial MT Pro"/>
                  <a:cs typeface="Arial MT Pro"/>
                  <a:sym typeface="Arial MT Pro"/>
                </a:rPr>
                <a:t>Cross-platform</a:t>
              </a:r>
              <a:r>
                <a:rPr lang="en-US" sz="3200">
                  <a:solidFill>
                    <a:srgbClr val="000000"/>
                  </a:solidFill>
                  <a:latin typeface="Arial MT Pro"/>
                  <a:ea typeface="Arial MT Pro"/>
                  <a:cs typeface="Arial MT Pro"/>
                  <a:sym typeface="Arial MT Pro"/>
                </a:rPr>
                <a:t> mobile development (iOS &amp; Android)</a:t>
              </a:r>
            </a:p>
            <a:p>
              <a:pPr algn="just" marL="771756" indent="-385878" lvl="1">
                <a:lnSpc>
                  <a:spcPts val="7680"/>
                </a:lnSpc>
                <a:buFont typeface="Arial"/>
                <a:buChar char="•"/>
              </a:pPr>
              <a:r>
                <a:rPr lang="en-US" b="true" sz="3200">
                  <a:solidFill>
                    <a:srgbClr val="000000"/>
                  </a:solidFill>
                  <a:latin typeface="Arial MT Pro Bold"/>
                  <a:ea typeface="Arial MT Pro Bold"/>
                  <a:cs typeface="Arial MT Pro Bold"/>
                  <a:sym typeface="Arial MT Pro Bold"/>
                </a:rPr>
                <a:t>Google ML Kit – </a:t>
              </a:r>
              <a:r>
                <a:rPr lang="en-US" sz="3200">
                  <a:solidFill>
                    <a:srgbClr val="000000"/>
                  </a:solidFill>
                  <a:latin typeface="Arial MT Pro"/>
                  <a:ea typeface="Arial MT Pro"/>
                  <a:cs typeface="Arial MT Pro"/>
                  <a:sym typeface="Arial MT Pro"/>
                </a:rPr>
                <a:t>On-device OCR for receipt scanning</a:t>
              </a:r>
            </a:p>
            <a:p>
              <a:pPr algn="just" marL="771756" indent="-385878" lvl="1">
                <a:lnSpc>
                  <a:spcPts val="7680"/>
                </a:lnSpc>
                <a:buFont typeface="Arial"/>
                <a:buChar char="•"/>
              </a:pPr>
              <a:r>
                <a:rPr lang="en-US" b="true" sz="3200">
                  <a:solidFill>
                    <a:srgbClr val="000000"/>
                  </a:solidFill>
                  <a:latin typeface="Arial MT Pro Bold"/>
                  <a:ea typeface="Arial MT Pro Bold"/>
                  <a:cs typeface="Arial MT Pro Bold"/>
                  <a:sym typeface="Arial MT Pro Bold"/>
                </a:rPr>
                <a:t>Firebase – </a:t>
              </a:r>
              <a:r>
                <a:rPr lang="en-US" sz="3200">
                  <a:solidFill>
                    <a:srgbClr val="000000"/>
                  </a:solidFill>
                  <a:latin typeface="Arial MT Pro"/>
                  <a:ea typeface="Arial MT Pro"/>
                  <a:cs typeface="Arial MT Pro"/>
                  <a:sym typeface="Arial MT Pro"/>
                </a:rPr>
                <a:t>Real-time database, auth, and storage</a:t>
              </a:r>
            </a:p>
            <a:p>
              <a:pPr algn="just" marL="771756" indent="-385878" lvl="1">
                <a:lnSpc>
                  <a:spcPts val="7680"/>
                </a:lnSpc>
                <a:buFont typeface="Arial"/>
                <a:buChar char="•"/>
              </a:pPr>
              <a:r>
                <a:rPr lang="en-US" b="true" sz="3200">
                  <a:solidFill>
                    <a:srgbClr val="000000"/>
                  </a:solidFill>
                  <a:latin typeface="Arial MT Pro Bold"/>
                  <a:ea typeface="Arial MT Pro Bold"/>
                  <a:cs typeface="Arial MT Pro Bold"/>
                  <a:sym typeface="Arial MT Pro Bold"/>
                </a:rPr>
                <a:t>xAI Grok API – </a:t>
              </a:r>
              <a:r>
                <a:rPr lang="en-US" sz="3200">
                  <a:solidFill>
                    <a:srgbClr val="000000"/>
                  </a:solidFill>
                  <a:latin typeface="Arial MT Pro"/>
                  <a:ea typeface="Arial MT Pro"/>
                  <a:cs typeface="Arial MT Pro"/>
                  <a:sym typeface="Arial MT Pro"/>
                </a:rPr>
                <a:t>AI-powered financial assistant</a:t>
              </a:r>
            </a:p>
            <a:p>
              <a:pPr algn="just" marL="771756" indent="-385878" lvl="1">
                <a:lnSpc>
                  <a:spcPts val="7680"/>
                </a:lnSpc>
                <a:buFont typeface="Arial"/>
                <a:buChar char="•"/>
              </a:pPr>
              <a:r>
                <a:rPr lang="en-US" b="true" sz="3200">
                  <a:solidFill>
                    <a:srgbClr val="000000"/>
                  </a:solidFill>
                  <a:latin typeface="Arial MT Pro Bold"/>
                  <a:ea typeface="Arial MT Pro Bold"/>
                  <a:cs typeface="Arial MT Pro Bold"/>
                  <a:sym typeface="Arial MT Pro Bold"/>
                </a:rPr>
                <a:t>fl_chart – </a:t>
              </a:r>
              <a:r>
                <a:rPr lang="en-US" sz="3200">
                  <a:solidFill>
                    <a:srgbClr val="000000"/>
                  </a:solidFill>
                  <a:latin typeface="Arial MT Pro"/>
                  <a:ea typeface="Arial MT Pro"/>
                  <a:cs typeface="Arial MT Pro"/>
                  <a:sym typeface="Arial MT Pro"/>
                </a:rPr>
                <a:t>Interactive budget visualizations</a:t>
              </a:r>
            </a:p>
          </p:txBody>
        </p:sp>
      </p:grpSp>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4679918"/>
            <a:ext cx="17770775" cy="889063"/>
          </a:xfrm>
          <a:prstGeom prst="rect">
            <a:avLst/>
          </a:prstGeom>
        </p:spPr>
        <p:txBody>
          <a:bodyPr anchor="t" rtlCol="false" tIns="0" lIns="0" bIns="0" rIns="0">
            <a:spAutoFit/>
          </a:bodyPr>
          <a:lstStyle/>
          <a:p>
            <a:pPr algn="l" marL="0" indent="0" lvl="0">
              <a:lnSpc>
                <a:spcPts val="6719"/>
              </a:lnSpc>
              <a:spcBef>
                <a:spcPct val="0"/>
              </a:spcBef>
            </a:pPr>
            <a:r>
              <a:rPr lang="en-US" b="true" sz="5599" strike="noStrike" u="none">
                <a:solidFill>
                  <a:srgbClr val="000000"/>
                </a:solidFill>
                <a:latin typeface="Arimo Bold"/>
                <a:ea typeface="Arimo Bold"/>
                <a:cs typeface="Arimo Bold"/>
                <a:sym typeface="Arimo Bold"/>
              </a:rPr>
              <a:t>Architecture diagram of the proposed solution</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151515"/>
        </a:solidFill>
      </p:bgPr>
    </p:bg>
    <p:spTree>
      <p:nvGrpSpPr>
        <p:cNvPr id="1" name=""/>
        <p:cNvGrpSpPr/>
        <p:nvPr/>
      </p:nvGrpSpPr>
      <p:grpSpPr>
        <a:xfrm>
          <a:off x="0" y="0"/>
          <a:ext cx="0" cy="0"/>
          <a:chOff x="0" y="0"/>
          <a:chExt cx="0" cy="0"/>
        </a:xfrm>
      </p:grpSpPr>
      <p:sp>
        <p:nvSpPr>
          <p:cNvPr name="Freeform 2" id="2"/>
          <p:cNvSpPr/>
          <p:nvPr/>
        </p:nvSpPr>
        <p:spPr>
          <a:xfrm flipH="false" flipV="false" rot="0">
            <a:off x="514350" y="2404460"/>
            <a:ext cx="17259300" cy="5478081"/>
          </a:xfrm>
          <a:custGeom>
            <a:avLst/>
            <a:gdLst/>
            <a:ahLst/>
            <a:cxnLst/>
            <a:rect r="r" b="b" t="t" l="l"/>
            <a:pathLst>
              <a:path h="5478081" w="17259300">
                <a:moveTo>
                  <a:pt x="0" y="0"/>
                </a:moveTo>
                <a:lnTo>
                  <a:pt x="17259300" y="0"/>
                </a:lnTo>
                <a:lnTo>
                  <a:pt x="17259300" y="5478080"/>
                </a:lnTo>
                <a:lnTo>
                  <a:pt x="0" y="5478080"/>
                </a:lnTo>
                <a:lnTo>
                  <a:pt x="0" y="0"/>
                </a:lnTo>
                <a:close/>
              </a:path>
            </a:pathLst>
          </a:custGeom>
          <a:blipFill>
            <a:blip r:embed="rId2"/>
            <a:stretch>
              <a:fillRect l="-363" t="0" r="0" b="0"/>
            </a:stretch>
          </a:blipFill>
        </p:spPr>
      </p:sp>
      <p:grpSp>
        <p:nvGrpSpPr>
          <p:cNvPr name="Group 3" id="3"/>
          <p:cNvGrpSpPr/>
          <p:nvPr/>
        </p:nvGrpSpPr>
        <p:grpSpPr>
          <a:xfrm rot="0">
            <a:off x="15979086" y="6764018"/>
            <a:ext cx="1794564" cy="695795"/>
            <a:chOff x="0" y="0"/>
            <a:chExt cx="472642" cy="183255"/>
          </a:xfrm>
        </p:grpSpPr>
        <p:sp>
          <p:nvSpPr>
            <p:cNvPr name="Freeform 4" id="4"/>
            <p:cNvSpPr/>
            <p:nvPr/>
          </p:nvSpPr>
          <p:spPr>
            <a:xfrm flipH="false" flipV="false" rot="0">
              <a:off x="0" y="0"/>
              <a:ext cx="472642" cy="183255"/>
            </a:xfrm>
            <a:custGeom>
              <a:avLst/>
              <a:gdLst/>
              <a:ahLst/>
              <a:cxnLst/>
              <a:rect r="r" b="b" t="t" l="l"/>
              <a:pathLst>
                <a:path h="183255" w="472642">
                  <a:moveTo>
                    <a:pt x="0" y="0"/>
                  </a:moveTo>
                  <a:lnTo>
                    <a:pt x="472642" y="0"/>
                  </a:lnTo>
                  <a:lnTo>
                    <a:pt x="472642" y="183255"/>
                  </a:lnTo>
                  <a:lnTo>
                    <a:pt x="0" y="183255"/>
                  </a:lnTo>
                  <a:close/>
                </a:path>
              </a:pathLst>
            </a:custGeom>
            <a:solidFill>
              <a:srgbClr val="151515"/>
            </a:solidFill>
          </p:spPr>
        </p:sp>
        <p:sp>
          <p:nvSpPr>
            <p:cNvPr name="TextBox 5" id="5"/>
            <p:cNvSpPr txBox="true"/>
            <p:nvPr/>
          </p:nvSpPr>
          <p:spPr>
            <a:xfrm>
              <a:off x="0" y="-38100"/>
              <a:ext cx="472642" cy="221355"/>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923925"/>
            <a:ext cx="16109028" cy="9353550"/>
          </a:xfrm>
          <a:prstGeom prst="rect">
            <a:avLst/>
          </a:prstGeom>
        </p:spPr>
        <p:txBody>
          <a:bodyPr anchor="t" rtlCol="false" tIns="0" lIns="0" bIns="0" rIns="0">
            <a:spAutoFit/>
          </a:bodyPr>
          <a:lstStyle/>
          <a:p>
            <a:pPr algn="l">
              <a:lnSpc>
                <a:spcPts val="6599"/>
              </a:lnSpc>
            </a:pPr>
            <a:r>
              <a:rPr lang="en-US" sz="5499" b="true">
                <a:solidFill>
                  <a:srgbClr val="000000"/>
                </a:solidFill>
                <a:latin typeface="Arial MT Pro Bold"/>
                <a:ea typeface="Arial MT Pro Bold"/>
                <a:cs typeface="Arial MT Pro Bold"/>
                <a:sym typeface="Arial MT Pro Bold"/>
              </a:rPr>
              <a:t>References</a:t>
            </a:r>
          </a:p>
          <a:p>
            <a:pPr algn="l">
              <a:lnSpc>
                <a:spcPts val="3959"/>
              </a:lnSpc>
            </a:pPr>
          </a:p>
          <a:p>
            <a:pPr algn="l" marL="712464" indent="-356232" lvl="1">
              <a:lnSpc>
                <a:spcPts val="3959"/>
              </a:lnSpc>
              <a:buFont typeface="Arial"/>
              <a:buChar char="•"/>
            </a:pPr>
            <a:r>
              <a:rPr lang="en-US" b="true" sz="3299" u="sng">
                <a:solidFill>
                  <a:srgbClr val="000000"/>
                </a:solidFill>
                <a:latin typeface="Arial MT Pro Bold"/>
                <a:ea typeface="Arial MT Pro Bold"/>
                <a:cs typeface="Arial MT Pro Bold"/>
                <a:sym typeface="Arial MT Pro Bold"/>
              </a:rPr>
              <a:t>Google ML Kit</a:t>
            </a:r>
            <a:r>
              <a:rPr lang="en-US" sz="3299">
                <a:solidFill>
                  <a:srgbClr val="000000"/>
                </a:solidFill>
                <a:latin typeface="Arial MT Pro"/>
                <a:ea typeface="Arial MT Pro"/>
                <a:cs typeface="Arial MT Pro"/>
                <a:sym typeface="Arial MT Pro"/>
              </a:rPr>
              <a:t> – Text Recognition Google. (2025). ML Kit Text Recognition API. Retrieved from </a:t>
            </a:r>
            <a:r>
              <a:rPr lang="en-US" sz="3299" u="sng">
                <a:solidFill>
                  <a:srgbClr val="000000"/>
                </a:solidFill>
                <a:latin typeface="Arial MT Pro"/>
                <a:ea typeface="Arial MT Pro"/>
                <a:cs typeface="Arial MT Pro"/>
                <a:sym typeface="Arial MT Pro"/>
                <a:hlinkClick r:id="rId2" tooltip="https://developers.google.com/ml-kit/vision/text-recognition"/>
              </a:rPr>
              <a:t>https://developers.google.com/ml-kit/vision/text-recognition</a:t>
            </a:r>
          </a:p>
          <a:p>
            <a:pPr algn="l" marL="712464" indent="-356232" lvl="1">
              <a:lnSpc>
                <a:spcPts val="3959"/>
              </a:lnSpc>
              <a:buFont typeface="Arial"/>
              <a:buChar char="•"/>
            </a:pPr>
            <a:r>
              <a:rPr lang="en-US" b="true" sz="3299" u="sng">
                <a:solidFill>
                  <a:srgbClr val="000000"/>
                </a:solidFill>
                <a:latin typeface="Arial MT Pro Bold"/>
                <a:ea typeface="Arial MT Pro Bold"/>
                <a:cs typeface="Arial MT Pro Bold"/>
                <a:sym typeface="Arial MT Pro Bold"/>
              </a:rPr>
              <a:t>Firebase Documentation Google</a:t>
            </a:r>
            <a:r>
              <a:rPr lang="en-US" sz="3299">
                <a:solidFill>
                  <a:srgbClr val="000000"/>
                </a:solidFill>
                <a:latin typeface="Arial MT Pro"/>
                <a:ea typeface="Arial MT Pro"/>
                <a:cs typeface="Arial MT Pro"/>
                <a:sym typeface="Arial MT Pro"/>
              </a:rPr>
              <a:t>. (2025). Firebase: Build, improve, grow. Retrieved from </a:t>
            </a:r>
            <a:r>
              <a:rPr lang="en-US" sz="3299" u="sng">
                <a:solidFill>
                  <a:srgbClr val="000000"/>
                </a:solidFill>
                <a:latin typeface="Arial MT Pro"/>
                <a:ea typeface="Arial MT Pro"/>
                <a:cs typeface="Arial MT Pro"/>
                <a:sym typeface="Arial MT Pro"/>
                <a:hlinkClick r:id="rId3" tooltip="https://firebase.google.com/docs"/>
              </a:rPr>
              <a:t>https://firebase.google.com/docs</a:t>
            </a:r>
          </a:p>
          <a:p>
            <a:pPr algn="l" marL="712464" indent="-356232" lvl="1">
              <a:lnSpc>
                <a:spcPts val="3959"/>
              </a:lnSpc>
              <a:buFont typeface="Arial"/>
              <a:buChar char="•"/>
            </a:pPr>
            <a:r>
              <a:rPr lang="en-US" b="true" sz="3299" u="sng">
                <a:solidFill>
                  <a:srgbClr val="000000"/>
                </a:solidFill>
                <a:latin typeface="Arial MT Pro Bold"/>
                <a:ea typeface="Arial MT Pro Bold"/>
                <a:cs typeface="Arial MT Pro Bold"/>
                <a:sym typeface="Arial MT Pro Bold"/>
              </a:rPr>
              <a:t>xAI Grok API Reference</a:t>
            </a:r>
            <a:r>
              <a:rPr lang="en-US" sz="3299">
                <a:solidFill>
                  <a:srgbClr val="000000"/>
                </a:solidFill>
                <a:latin typeface="Arial MT Pro"/>
                <a:ea typeface="Arial MT Pro"/>
                <a:cs typeface="Arial MT Pro"/>
                <a:sym typeface="Arial MT Pro"/>
              </a:rPr>
              <a:t> xAI. (2025). Grok API Documentation. Retrieved from </a:t>
            </a:r>
            <a:r>
              <a:rPr lang="en-US" sz="3299" u="sng">
                <a:solidFill>
                  <a:srgbClr val="000000"/>
                </a:solidFill>
                <a:latin typeface="Arial MT Pro"/>
                <a:ea typeface="Arial MT Pro"/>
                <a:cs typeface="Arial MT Pro"/>
                <a:sym typeface="Arial MT Pro"/>
                <a:hlinkClick r:id="rId4" tooltip="https://x.ai/api"/>
              </a:rPr>
              <a:t>https://x.ai/api</a:t>
            </a:r>
          </a:p>
          <a:p>
            <a:pPr algn="l" marL="712464" indent="-356232" lvl="1">
              <a:lnSpc>
                <a:spcPts val="3959"/>
              </a:lnSpc>
              <a:buFont typeface="Arial"/>
              <a:buChar char="•"/>
            </a:pPr>
            <a:r>
              <a:rPr lang="en-US" b="true" sz="3299" u="sng">
                <a:solidFill>
                  <a:srgbClr val="000000"/>
                </a:solidFill>
                <a:latin typeface="Arial MT Pro Bold"/>
                <a:ea typeface="Arial MT Pro Bold"/>
                <a:cs typeface="Arial MT Pro Bold"/>
                <a:sym typeface="Arial MT Pro Bold"/>
              </a:rPr>
              <a:t>fl_chart – Flutter Charting Library Iman</a:t>
            </a:r>
            <a:r>
              <a:rPr lang="en-US" sz="3299">
                <a:solidFill>
                  <a:srgbClr val="000000"/>
                </a:solidFill>
                <a:latin typeface="Arial MT Pro"/>
                <a:ea typeface="Arial MT Pro"/>
                <a:cs typeface="Arial MT Pro"/>
                <a:sym typeface="Arial MT Pro"/>
              </a:rPr>
              <a:t>, A. (2025). fl_chart: Beautiful charts for Flutter. Retrieved from </a:t>
            </a:r>
            <a:r>
              <a:rPr lang="en-US" sz="3299" u="sng">
                <a:solidFill>
                  <a:srgbClr val="000000"/>
                </a:solidFill>
                <a:latin typeface="Arial MT Pro"/>
                <a:ea typeface="Arial MT Pro"/>
                <a:cs typeface="Arial MT Pro"/>
                <a:sym typeface="Arial MT Pro"/>
                <a:hlinkClick r:id="rId5" tooltip="https://pub.dev/packages/fl_chart"/>
              </a:rPr>
              <a:t>https://pub.dev/packages/fl_chart</a:t>
            </a:r>
          </a:p>
          <a:p>
            <a:pPr algn="l" marL="712464" indent="-356232" lvl="1">
              <a:lnSpc>
                <a:spcPts val="3959"/>
              </a:lnSpc>
              <a:buFont typeface="Arial"/>
              <a:buChar char="•"/>
            </a:pPr>
            <a:r>
              <a:rPr lang="en-US" b="true" sz="3299" u="sng">
                <a:solidFill>
                  <a:srgbClr val="000000"/>
                </a:solidFill>
                <a:latin typeface="Arial MT Pro Bold"/>
                <a:ea typeface="Arial MT Pro Bold"/>
                <a:cs typeface="Arial MT Pro Bold"/>
                <a:sym typeface="Arial MT Pro Bold"/>
              </a:rPr>
              <a:t>Optical Character Recognition (OCR)</a:t>
            </a:r>
            <a:r>
              <a:rPr lang="en-US" sz="3299">
                <a:solidFill>
                  <a:srgbClr val="000000"/>
                </a:solidFill>
                <a:latin typeface="Arial MT Pro"/>
                <a:ea typeface="Arial MT Pro"/>
                <a:cs typeface="Arial MT Pro"/>
                <a:sym typeface="Arial MT Pro"/>
              </a:rPr>
              <a:t>, in Mobile Devices Patel, C., Patel, A., &amp; Patel, D. (2022). Real-time text detection and recognition on mobile platforms using deep learning. International Journal of Computer Applications, 184(15), 23–30. DOI: 10.5120/ijca2022922134</a:t>
            </a:r>
          </a:p>
          <a:p>
            <a:pPr algn="l">
              <a:lnSpc>
                <a:spcPts val="3959"/>
              </a:lnSpc>
            </a:pPr>
          </a:p>
          <a:p>
            <a:pPr algn="l">
              <a:lnSpc>
                <a:spcPts val="3959"/>
              </a:lnSpc>
            </a:pPr>
          </a:p>
          <a:p>
            <a:pPr algn="l">
              <a:lnSpc>
                <a:spcPts val="3959"/>
              </a:lnSpc>
            </a:pPr>
          </a:p>
          <a:p>
            <a:pPr algn="l">
              <a:lnSpc>
                <a:spcPts val="3959"/>
              </a:lnSpc>
              <a:spcBef>
                <a:spcPct val="0"/>
              </a:spcBef>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1000125"/>
            <a:ext cx="17703150" cy="857250"/>
          </a:xfrm>
          <a:prstGeom prst="rect">
            <a:avLst/>
          </a:prstGeom>
        </p:spPr>
        <p:txBody>
          <a:bodyPr anchor="t" rtlCol="false" tIns="0" lIns="0" bIns="0" rIns="0">
            <a:spAutoFit/>
          </a:bodyPr>
          <a:lstStyle/>
          <a:p>
            <a:pPr algn="l">
              <a:lnSpc>
                <a:spcPts val="6599"/>
              </a:lnSpc>
            </a:pPr>
            <a:r>
              <a:rPr lang="en-US" b="true" sz="5499">
                <a:solidFill>
                  <a:srgbClr val="000000"/>
                </a:solidFill>
                <a:latin typeface="Arimo Bold"/>
                <a:ea typeface="Arimo Bold"/>
                <a:cs typeface="Arimo Bold"/>
                <a:sym typeface="Arimo Bold"/>
              </a:rPr>
              <a:t>Wireframes/Mock diagrams</a:t>
            </a:r>
          </a:p>
        </p:txBody>
      </p:sp>
      <p:grpSp>
        <p:nvGrpSpPr>
          <p:cNvPr name="Group 3" id="3"/>
          <p:cNvGrpSpPr/>
          <p:nvPr/>
        </p:nvGrpSpPr>
        <p:grpSpPr>
          <a:xfrm rot="0">
            <a:off x="1028700" y="2110851"/>
            <a:ext cx="15586142" cy="7442673"/>
            <a:chOff x="0" y="0"/>
            <a:chExt cx="20781523" cy="9923564"/>
          </a:xfrm>
        </p:grpSpPr>
        <p:grpSp>
          <p:nvGrpSpPr>
            <p:cNvPr name="Group 4" id="4"/>
            <p:cNvGrpSpPr>
              <a:grpSpLocks noChangeAspect="true"/>
            </p:cNvGrpSpPr>
            <p:nvPr/>
          </p:nvGrpSpPr>
          <p:grpSpPr>
            <a:xfrm rot="0">
              <a:off x="6576839" y="1058764"/>
              <a:ext cx="4096013" cy="8864800"/>
              <a:chOff x="0" y="0"/>
              <a:chExt cx="4096013" cy="8864800"/>
            </a:xfrm>
          </p:grpSpPr>
          <p:sp>
            <p:nvSpPr>
              <p:cNvPr name="Freeform 5" id="5"/>
              <p:cNvSpPr/>
              <p:nvPr/>
            </p:nvSpPr>
            <p:spPr>
              <a:xfrm flipH="false" flipV="false" rot="0">
                <a:off x="0" y="0"/>
                <a:ext cx="4096004" cy="8864854"/>
              </a:xfrm>
              <a:custGeom>
                <a:avLst/>
                <a:gdLst/>
                <a:ahLst/>
                <a:cxnLst/>
                <a:rect r="r" b="b" t="t" l="l"/>
                <a:pathLst>
                  <a:path h="8864854" w="4096004">
                    <a:moveTo>
                      <a:pt x="0" y="0"/>
                    </a:moveTo>
                    <a:lnTo>
                      <a:pt x="4096004" y="0"/>
                    </a:lnTo>
                    <a:lnTo>
                      <a:pt x="4096004" y="8864854"/>
                    </a:lnTo>
                    <a:lnTo>
                      <a:pt x="0" y="8864854"/>
                    </a:lnTo>
                    <a:lnTo>
                      <a:pt x="0" y="0"/>
                    </a:lnTo>
                    <a:close/>
                  </a:path>
                </a:pathLst>
              </a:custGeom>
              <a:blipFill>
                <a:blip r:embed="rId3"/>
                <a:stretch>
                  <a:fillRect l="0" t="0" r="0" b="0"/>
                </a:stretch>
              </a:blipFill>
            </p:spPr>
          </p:sp>
        </p:grpSp>
        <p:grpSp>
          <p:nvGrpSpPr>
            <p:cNvPr name="Group 6" id="6"/>
            <p:cNvGrpSpPr>
              <a:grpSpLocks noChangeAspect="true"/>
            </p:cNvGrpSpPr>
            <p:nvPr/>
          </p:nvGrpSpPr>
          <p:grpSpPr>
            <a:xfrm rot="0">
              <a:off x="11206252" y="1058764"/>
              <a:ext cx="4096013" cy="8864800"/>
              <a:chOff x="0" y="0"/>
              <a:chExt cx="4096013" cy="8864800"/>
            </a:xfrm>
          </p:grpSpPr>
          <p:sp>
            <p:nvSpPr>
              <p:cNvPr name="Freeform 7" id="7"/>
              <p:cNvSpPr/>
              <p:nvPr/>
            </p:nvSpPr>
            <p:spPr>
              <a:xfrm flipH="false" flipV="false" rot="0">
                <a:off x="0" y="0"/>
                <a:ext cx="4096004" cy="8864854"/>
              </a:xfrm>
              <a:custGeom>
                <a:avLst/>
                <a:gdLst/>
                <a:ahLst/>
                <a:cxnLst/>
                <a:rect r="r" b="b" t="t" l="l"/>
                <a:pathLst>
                  <a:path h="8864854" w="4096004">
                    <a:moveTo>
                      <a:pt x="0" y="0"/>
                    </a:moveTo>
                    <a:lnTo>
                      <a:pt x="4096004" y="0"/>
                    </a:lnTo>
                    <a:lnTo>
                      <a:pt x="4096004" y="8864854"/>
                    </a:lnTo>
                    <a:lnTo>
                      <a:pt x="0" y="8864854"/>
                    </a:lnTo>
                    <a:lnTo>
                      <a:pt x="0" y="0"/>
                    </a:lnTo>
                    <a:close/>
                  </a:path>
                </a:pathLst>
              </a:custGeom>
              <a:blipFill>
                <a:blip r:embed="rId4"/>
                <a:stretch>
                  <a:fillRect l="0" t="0" r="0" b="0"/>
                </a:stretch>
              </a:blipFill>
            </p:spPr>
          </p:sp>
        </p:grpSp>
        <p:grpSp>
          <p:nvGrpSpPr>
            <p:cNvPr name="Group 8" id="8"/>
            <p:cNvGrpSpPr>
              <a:grpSpLocks noChangeAspect="true"/>
            </p:cNvGrpSpPr>
            <p:nvPr/>
          </p:nvGrpSpPr>
          <p:grpSpPr>
            <a:xfrm rot="0">
              <a:off x="15837369" y="1058764"/>
              <a:ext cx="4096013" cy="8864800"/>
              <a:chOff x="0" y="0"/>
              <a:chExt cx="4096013" cy="8864800"/>
            </a:xfrm>
          </p:grpSpPr>
          <p:sp>
            <p:nvSpPr>
              <p:cNvPr name="Freeform 9" id="9"/>
              <p:cNvSpPr/>
              <p:nvPr/>
            </p:nvSpPr>
            <p:spPr>
              <a:xfrm flipH="false" flipV="false" rot="0">
                <a:off x="0" y="0"/>
                <a:ext cx="4096004" cy="8864854"/>
              </a:xfrm>
              <a:custGeom>
                <a:avLst/>
                <a:gdLst/>
                <a:ahLst/>
                <a:cxnLst/>
                <a:rect r="r" b="b" t="t" l="l"/>
                <a:pathLst>
                  <a:path h="8864854" w="4096004">
                    <a:moveTo>
                      <a:pt x="0" y="0"/>
                    </a:moveTo>
                    <a:lnTo>
                      <a:pt x="4096004" y="0"/>
                    </a:lnTo>
                    <a:lnTo>
                      <a:pt x="4096004" y="8864854"/>
                    </a:lnTo>
                    <a:lnTo>
                      <a:pt x="0" y="8864854"/>
                    </a:lnTo>
                    <a:lnTo>
                      <a:pt x="0" y="0"/>
                    </a:lnTo>
                    <a:close/>
                  </a:path>
                </a:pathLst>
              </a:custGeom>
              <a:blipFill>
                <a:blip r:embed="rId5"/>
                <a:stretch>
                  <a:fillRect l="0" t="0" r="0" b="0"/>
                </a:stretch>
              </a:blipFill>
            </p:spPr>
          </p:sp>
        </p:grpSp>
        <p:grpSp>
          <p:nvGrpSpPr>
            <p:cNvPr name="Group 10" id="10"/>
            <p:cNvGrpSpPr>
              <a:grpSpLocks noChangeAspect="true"/>
            </p:cNvGrpSpPr>
            <p:nvPr/>
          </p:nvGrpSpPr>
          <p:grpSpPr>
            <a:xfrm rot="0">
              <a:off x="1947425" y="1058764"/>
              <a:ext cx="4096013" cy="8864800"/>
              <a:chOff x="0" y="0"/>
              <a:chExt cx="4096013" cy="8864800"/>
            </a:xfrm>
          </p:grpSpPr>
          <p:sp>
            <p:nvSpPr>
              <p:cNvPr name="Freeform 11" id="11"/>
              <p:cNvSpPr/>
              <p:nvPr/>
            </p:nvSpPr>
            <p:spPr>
              <a:xfrm flipH="false" flipV="false" rot="0">
                <a:off x="0" y="0"/>
                <a:ext cx="4096004" cy="8864854"/>
              </a:xfrm>
              <a:custGeom>
                <a:avLst/>
                <a:gdLst/>
                <a:ahLst/>
                <a:cxnLst/>
                <a:rect r="r" b="b" t="t" l="l"/>
                <a:pathLst>
                  <a:path h="8864854" w="4096004">
                    <a:moveTo>
                      <a:pt x="0" y="0"/>
                    </a:moveTo>
                    <a:lnTo>
                      <a:pt x="4096004" y="0"/>
                    </a:lnTo>
                    <a:lnTo>
                      <a:pt x="4096004" y="8864854"/>
                    </a:lnTo>
                    <a:lnTo>
                      <a:pt x="0" y="8864854"/>
                    </a:lnTo>
                    <a:lnTo>
                      <a:pt x="0" y="0"/>
                    </a:lnTo>
                    <a:close/>
                  </a:path>
                </a:pathLst>
              </a:custGeom>
              <a:blipFill>
                <a:blip r:embed="rId6"/>
                <a:stretch>
                  <a:fillRect l="0" t="0" r="0" b="0"/>
                </a:stretch>
              </a:blipFill>
            </p:spPr>
          </p:sp>
        </p:grpSp>
        <p:sp>
          <p:nvSpPr>
            <p:cNvPr name="TextBox 12" id="12"/>
            <p:cNvSpPr txBox="true"/>
            <p:nvPr/>
          </p:nvSpPr>
          <p:spPr>
            <a:xfrm rot="0">
              <a:off x="0" y="-76200"/>
              <a:ext cx="20781523" cy="787400"/>
            </a:xfrm>
            <a:prstGeom prst="rect">
              <a:avLst/>
            </a:prstGeom>
          </p:spPr>
          <p:txBody>
            <a:bodyPr anchor="t" rtlCol="false" tIns="0" lIns="0" bIns="0" rIns="0">
              <a:spAutoFit/>
            </a:bodyPr>
            <a:lstStyle/>
            <a:p>
              <a:pPr algn="ctr">
                <a:lnSpc>
                  <a:spcPts val="4200"/>
                </a:lnSpc>
              </a:pPr>
              <a:r>
                <a:rPr lang="en-US" b="true" sz="3500">
                  <a:solidFill>
                    <a:srgbClr val="000000"/>
                  </a:solidFill>
                  <a:latin typeface="Arial MT Pro Bold"/>
                  <a:ea typeface="Arial MT Pro Bold"/>
                  <a:cs typeface="Arial MT Pro Bold"/>
                  <a:sym typeface="Arial MT Pro Bold"/>
                </a:rPr>
                <a:t>Registration and Log in</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7252532" y="2173414"/>
            <a:ext cx="2744672" cy="5940162"/>
            <a:chOff x="0" y="0"/>
            <a:chExt cx="3659563" cy="7920216"/>
          </a:xfrm>
        </p:grpSpPr>
        <p:sp>
          <p:nvSpPr>
            <p:cNvPr name="Freeform 3" id="3"/>
            <p:cNvSpPr/>
            <p:nvPr/>
          </p:nvSpPr>
          <p:spPr>
            <a:xfrm flipH="false" flipV="false" rot="0">
              <a:off x="0" y="0"/>
              <a:ext cx="3659505" cy="7920228"/>
            </a:xfrm>
            <a:custGeom>
              <a:avLst/>
              <a:gdLst/>
              <a:ahLst/>
              <a:cxnLst/>
              <a:rect r="r" b="b" t="t" l="l"/>
              <a:pathLst>
                <a:path h="7920228" w="3659505">
                  <a:moveTo>
                    <a:pt x="0" y="0"/>
                  </a:moveTo>
                  <a:lnTo>
                    <a:pt x="3659505" y="0"/>
                  </a:lnTo>
                  <a:lnTo>
                    <a:pt x="3659505" y="7920228"/>
                  </a:lnTo>
                  <a:lnTo>
                    <a:pt x="0" y="7920228"/>
                  </a:lnTo>
                  <a:lnTo>
                    <a:pt x="0" y="0"/>
                  </a:lnTo>
                  <a:close/>
                </a:path>
              </a:pathLst>
            </a:custGeom>
            <a:blipFill>
              <a:blip r:embed="rId3"/>
              <a:stretch>
                <a:fillRect l="0" t="0" r="-1" b="0"/>
              </a:stretch>
            </a:blipFill>
          </p:spPr>
        </p:sp>
      </p:grpSp>
      <p:grpSp>
        <p:nvGrpSpPr>
          <p:cNvPr name="Group 4" id="4"/>
          <p:cNvGrpSpPr>
            <a:grpSpLocks noChangeAspect="true"/>
          </p:cNvGrpSpPr>
          <p:nvPr/>
        </p:nvGrpSpPr>
        <p:grpSpPr>
          <a:xfrm rot="0">
            <a:off x="10620606" y="2173412"/>
            <a:ext cx="2744674" cy="5940162"/>
            <a:chOff x="0" y="0"/>
            <a:chExt cx="3659565" cy="7920216"/>
          </a:xfrm>
        </p:grpSpPr>
        <p:sp>
          <p:nvSpPr>
            <p:cNvPr name="Freeform 5" id="5"/>
            <p:cNvSpPr/>
            <p:nvPr/>
          </p:nvSpPr>
          <p:spPr>
            <a:xfrm flipH="false" flipV="false" rot="0">
              <a:off x="0" y="0"/>
              <a:ext cx="3659505" cy="7920228"/>
            </a:xfrm>
            <a:custGeom>
              <a:avLst/>
              <a:gdLst/>
              <a:ahLst/>
              <a:cxnLst/>
              <a:rect r="r" b="b" t="t" l="l"/>
              <a:pathLst>
                <a:path h="7920228" w="3659505">
                  <a:moveTo>
                    <a:pt x="0" y="0"/>
                  </a:moveTo>
                  <a:lnTo>
                    <a:pt x="3659505" y="0"/>
                  </a:lnTo>
                  <a:lnTo>
                    <a:pt x="3659505" y="7920228"/>
                  </a:lnTo>
                  <a:lnTo>
                    <a:pt x="0" y="7920228"/>
                  </a:lnTo>
                  <a:lnTo>
                    <a:pt x="0" y="0"/>
                  </a:lnTo>
                  <a:close/>
                </a:path>
              </a:pathLst>
            </a:custGeom>
            <a:blipFill>
              <a:blip r:embed="rId4"/>
              <a:stretch>
                <a:fillRect l="0" t="0" r="-1" b="0"/>
              </a:stretch>
            </a:blipFill>
          </p:spPr>
        </p:sp>
      </p:grpSp>
      <p:grpSp>
        <p:nvGrpSpPr>
          <p:cNvPr name="Group 6" id="6"/>
          <p:cNvGrpSpPr>
            <a:grpSpLocks noChangeAspect="true"/>
          </p:cNvGrpSpPr>
          <p:nvPr/>
        </p:nvGrpSpPr>
        <p:grpSpPr>
          <a:xfrm rot="0">
            <a:off x="623384" y="2173416"/>
            <a:ext cx="2744676" cy="5940166"/>
            <a:chOff x="0" y="0"/>
            <a:chExt cx="3659568" cy="7920221"/>
          </a:xfrm>
        </p:grpSpPr>
        <p:sp>
          <p:nvSpPr>
            <p:cNvPr name="Freeform 7" id="7"/>
            <p:cNvSpPr/>
            <p:nvPr/>
          </p:nvSpPr>
          <p:spPr>
            <a:xfrm flipH="false" flipV="false" rot="0">
              <a:off x="0" y="0"/>
              <a:ext cx="3659505" cy="7920228"/>
            </a:xfrm>
            <a:custGeom>
              <a:avLst/>
              <a:gdLst/>
              <a:ahLst/>
              <a:cxnLst/>
              <a:rect r="r" b="b" t="t" l="l"/>
              <a:pathLst>
                <a:path h="7920228" w="3659505">
                  <a:moveTo>
                    <a:pt x="0" y="0"/>
                  </a:moveTo>
                  <a:lnTo>
                    <a:pt x="3659505" y="0"/>
                  </a:lnTo>
                  <a:lnTo>
                    <a:pt x="3659505" y="7920228"/>
                  </a:lnTo>
                  <a:lnTo>
                    <a:pt x="0" y="7920228"/>
                  </a:lnTo>
                  <a:lnTo>
                    <a:pt x="0" y="0"/>
                  </a:lnTo>
                  <a:close/>
                </a:path>
              </a:pathLst>
            </a:custGeom>
            <a:blipFill>
              <a:blip r:embed="rId5"/>
              <a:stretch>
                <a:fillRect l="0" t="0" r="-1" b="0"/>
              </a:stretch>
            </a:blipFill>
          </p:spPr>
        </p:sp>
      </p:grpSp>
      <p:grpSp>
        <p:nvGrpSpPr>
          <p:cNvPr name="Group 8" id="8"/>
          <p:cNvGrpSpPr>
            <a:grpSpLocks noChangeAspect="true"/>
          </p:cNvGrpSpPr>
          <p:nvPr/>
        </p:nvGrpSpPr>
        <p:grpSpPr>
          <a:xfrm rot="0">
            <a:off x="3884456" y="2173416"/>
            <a:ext cx="2744674" cy="5940162"/>
            <a:chOff x="0" y="0"/>
            <a:chExt cx="3659565" cy="7920216"/>
          </a:xfrm>
        </p:grpSpPr>
        <p:sp>
          <p:nvSpPr>
            <p:cNvPr name="Freeform 9" id="9"/>
            <p:cNvSpPr/>
            <p:nvPr/>
          </p:nvSpPr>
          <p:spPr>
            <a:xfrm flipH="false" flipV="false" rot="0">
              <a:off x="0" y="0"/>
              <a:ext cx="3659505" cy="7920228"/>
            </a:xfrm>
            <a:custGeom>
              <a:avLst/>
              <a:gdLst/>
              <a:ahLst/>
              <a:cxnLst/>
              <a:rect r="r" b="b" t="t" l="l"/>
              <a:pathLst>
                <a:path h="7920228" w="3659505">
                  <a:moveTo>
                    <a:pt x="0" y="0"/>
                  </a:moveTo>
                  <a:lnTo>
                    <a:pt x="3659505" y="0"/>
                  </a:lnTo>
                  <a:lnTo>
                    <a:pt x="3659505" y="7920228"/>
                  </a:lnTo>
                  <a:lnTo>
                    <a:pt x="0" y="7920228"/>
                  </a:lnTo>
                  <a:lnTo>
                    <a:pt x="0" y="0"/>
                  </a:lnTo>
                  <a:close/>
                </a:path>
              </a:pathLst>
            </a:custGeom>
            <a:blipFill>
              <a:blip r:embed="rId6"/>
              <a:stretch>
                <a:fillRect l="0" t="0" r="-1" b="0"/>
              </a:stretch>
            </a:blipFill>
          </p:spPr>
        </p:sp>
      </p:grpSp>
      <p:sp>
        <p:nvSpPr>
          <p:cNvPr name="TextBox 10" id="10"/>
          <p:cNvSpPr txBox="true"/>
          <p:nvPr/>
        </p:nvSpPr>
        <p:spPr>
          <a:xfrm rot="0">
            <a:off x="14822132" y="3709888"/>
            <a:ext cx="3267424" cy="3654624"/>
          </a:xfrm>
          <a:prstGeom prst="rect">
            <a:avLst/>
          </a:prstGeom>
        </p:spPr>
        <p:txBody>
          <a:bodyPr anchor="t" rtlCol="false" tIns="0" lIns="0" bIns="0" rIns="0">
            <a:spAutoFit/>
          </a:bodyPr>
          <a:lstStyle/>
          <a:p>
            <a:pPr algn="ctr">
              <a:lnSpc>
                <a:spcPts val="6719"/>
              </a:lnSpc>
            </a:pPr>
            <a:r>
              <a:rPr lang="en-US" sz="5599">
                <a:solidFill>
                  <a:srgbClr val="000000"/>
                </a:solidFill>
                <a:latin typeface="Arial MT Pro"/>
                <a:ea typeface="Arial MT Pro"/>
                <a:cs typeface="Arial MT Pro"/>
                <a:sym typeface="Arial MT Pro"/>
              </a:rPr>
              <a:t>Receipt</a:t>
            </a:r>
          </a:p>
          <a:p>
            <a:pPr algn="ctr">
              <a:lnSpc>
                <a:spcPts val="6719"/>
              </a:lnSpc>
            </a:pPr>
            <a:r>
              <a:rPr lang="en-US" sz="5599">
                <a:solidFill>
                  <a:srgbClr val="000000"/>
                </a:solidFill>
                <a:latin typeface="Arial MT Pro"/>
                <a:ea typeface="Arial MT Pro"/>
                <a:cs typeface="Arial MT Pro"/>
                <a:sym typeface="Arial MT Pro"/>
              </a:rPr>
              <a:t> scanning</a:t>
            </a:r>
          </a:p>
          <a:p>
            <a:pPr algn="ctr">
              <a:lnSpc>
                <a:spcPts val="6719"/>
              </a:lnSpc>
            </a:pPr>
            <a:r>
              <a:rPr lang="en-US" sz="5599">
                <a:solidFill>
                  <a:srgbClr val="000000"/>
                </a:solidFill>
                <a:latin typeface="Arial MT Pro"/>
                <a:ea typeface="Arial MT Pro"/>
                <a:cs typeface="Arial MT Pro"/>
                <a:sym typeface="Arial MT Pro"/>
              </a:rPr>
              <a:t>&amp;</a:t>
            </a:r>
          </a:p>
          <a:p>
            <a:pPr algn="ctr">
              <a:lnSpc>
                <a:spcPts val="6719"/>
              </a:lnSpc>
            </a:pPr>
            <a:r>
              <a:rPr lang="en-US" sz="5599">
                <a:solidFill>
                  <a:srgbClr val="000000"/>
                </a:solidFill>
                <a:latin typeface="Arial MT Pro"/>
                <a:ea typeface="Arial MT Pro"/>
                <a:cs typeface="Arial MT Pro"/>
                <a:sym typeface="Arial MT Pro"/>
              </a:rPr>
              <a:t>saving</a:t>
            </a:r>
          </a:p>
        </p:txBody>
      </p:sp>
      <p:grpSp>
        <p:nvGrpSpPr>
          <p:cNvPr name="Group 11" id="11"/>
          <p:cNvGrpSpPr/>
          <p:nvPr/>
        </p:nvGrpSpPr>
        <p:grpSpPr>
          <a:xfrm rot="0">
            <a:off x="13917247" y="2163887"/>
            <a:ext cx="1077828" cy="5959212"/>
            <a:chOff x="0" y="0"/>
            <a:chExt cx="1437104" cy="7945616"/>
          </a:xfrm>
        </p:grpSpPr>
        <p:sp>
          <p:nvSpPr>
            <p:cNvPr name="Freeform 12" id="12"/>
            <p:cNvSpPr/>
            <p:nvPr/>
          </p:nvSpPr>
          <p:spPr>
            <a:xfrm flipH="false" flipV="false" rot="0">
              <a:off x="0" y="0"/>
              <a:ext cx="1437132" cy="7945628"/>
            </a:xfrm>
            <a:custGeom>
              <a:avLst/>
              <a:gdLst/>
              <a:ahLst/>
              <a:cxnLst/>
              <a:rect r="r" b="b" t="t" l="l"/>
              <a:pathLst>
                <a:path h="7945628" w="1437132">
                  <a:moveTo>
                    <a:pt x="12700" y="25400"/>
                  </a:moveTo>
                  <a:lnTo>
                    <a:pt x="12700" y="12700"/>
                  </a:lnTo>
                  <a:lnTo>
                    <a:pt x="12700" y="0"/>
                  </a:lnTo>
                  <a:cubicBezTo>
                    <a:pt x="391287" y="0"/>
                    <a:pt x="731266" y="49657"/>
                    <a:pt x="731266" y="132080"/>
                  </a:cubicBezTo>
                  <a:lnTo>
                    <a:pt x="731266" y="3853434"/>
                  </a:lnTo>
                  <a:lnTo>
                    <a:pt x="718566" y="3853434"/>
                  </a:lnTo>
                  <a:lnTo>
                    <a:pt x="731266" y="3853434"/>
                  </a:lnTo>
                  <a:cubicBezTo>
                    <a:pt x="731266" y="3902964"/>
                    <a:pt x="1023239" y="3960114"/>
                    <a:pt x="1424432" y="3960114"/>
                  </a:cubicBezTo>
                  <a:lnTo>
                    <a:pt x="1424432" y="3972814"/>
                  </a:lnTo>
                  <a:lnTo>
                    <a:pt x="1424432" y="3985514"/>
                  </a:lnTo>
                  <a:lnTo>
                    <a:pt x="1424432" y="3972814"/>
                  </a:lnTo>
                  <a:lnTo>
                    <a:pt x="1424432" y="3985514"/>
                  </a:lnTo>
                  <a:cubicBezTo>
                    <a:pt x="1023366" y="3985514"/>
                    <a:pt x="731266" y="4042664"/>
                    <a:pt x="731266" y="4092194"/>
                  </a:cubicBezTo>
                  <a:lnTo>
                    <a:pt x="718566" y="4092194"/>
                  </a:lnTo>
                  <a:lnTo>
                    <a:pt x="731266" y="4092194"/>
                  </a:lnTo>
                  <a:lnTo>
                    <a:pt x="731266" y="7813548"/>
                  </a:lnTo>
                  <a:lnTo>
                    <a:pt x="718566" y="7813548"/>
                  </a:lnTo>
                  <a:lnTo>
                    <a:pt x="731266" y="7813548"/>
                  </a:lnTo>
                  <a:cubicBezTo>
                    <a:pt x="731266" y="7895971"/>
                    <a:pt x="391287" y="7945628"/>
                    <a:pt x="12700" y="7945628"/>
                  </a:cubicBezTo>
                  <a:cubicBezTo>
                    <a:pt x="5715" y="7945628"/>
                    <a:pt x="0" y="7939913"/>
                    <a:pt x="0" y="7932928"/>
                  </a:cubicBezTo>
                  <a:lnTo>
                    <a:pt x="0" y="12700"/>
                  </a:lnTo>
                  <a:lnTo>
                    <a:pt x="12700" y="12700"/>
                  </a:lnTo>
                  <a:lnTo>
                    <a:pt x="12700" y="25400"/>
                  </a:lnTo>
                  <a:moveTo>
                    <a:pt x="12700" y="0"/>
                  </a:moveTo>
                  <a:cubicBezTo>
                    <a:pt x="19685" y="0"/>
                    <a:pt x="25400" y="5715"/>
                    <a:pt x="25400" y="12700"/>
                  </a:cubicBezTo>
                  <a:lnTo>
                    <a:pt x="25400" y="7932928"/>
                  </a:lnTo>
                  <a:lnTo>
                    <a:pt x="12700" y="7932928"/>
                  </a:lnTo>
                  <a:lnTo>
                    <a:pt x="12700" y="7920228"/>
                  </a:lnTo>
                  <a:cubicBezTo>
                    <a:pt x="413766" y="7920228"/>
                    <a:pt x="705866" y="7863078"/>
                    <a:pt x="705866" y="7813548"/>
                  </a:cubicBezTo>
                  <a:lnTo>
                    <a:pt x="705866" y="4092194"/>
                  </a:lnTo>
                  <a:cubicBezTo>
                    <a:pt x="705866" y="4009771"/>
                    <a:pt x="1045845" y="3960114"/>
                    <a:pt x="1424432" y="3960114"/>
                  </a:cubicBezTo>
                  <a:cubicBezTo>
                    <a:pt x="1431417" y="3960114"/>
                    <a:pt x="1437132" y="3965829"/>
                    <a:pt x="1437132" y="3972814"/>
                  </a:cubicBezTo>
                  <a:cubicBezTo>
                    <a:pt x="1437132" y="3979799"/>
                    <a:pt x="1431417" y="3985514"/>
                    <a:pt x="1424432" y="3985514"/>
                  </a:cubicBezTo>
                  <a:cubicBezTo>
                    <a:pt x="1045845" y="3985514"/>
                    <a:pt x="705866" y="3935857"/>
                    <a:pt x="705866" y="3853434"/>
                  </a:cubicBezTo>
                  <a:lnTo>
                    <a:pt x="705866" y="132080"/>
                  </a:lnTo>
                  <a:lnTo>
                    <a:pt x="718566" y="132080"/>
                  </a:lnTo>
                  <a:lnTo>
                    <a:pt x="705866" y="132080"/>
                  </a:lnTo>
                  <a:cubicBezTo>
                    <a:pt x="705866" y="82550"/>
                    <a:pt x="413766" y="25400"/>
                    <a:pt x="12700" y="25400"/>
                  </a:cubicBezTo>
                  <a:cubicBezTo>
                    <a:pt x="5715" y="25400"/>
                    <a:pt x="0" y="19685"/>
                    <a:pt x="0" y="12700"/>
                  </a:cubicBezTo>
                  <a:cubicBezTo>
                    <a:pt x="0" y="5715"/>
                    <a:pt x="5715" y="0"/>
                    <a:pt x="12700" y="0"/>
                  </a:cubicBezTo>
                  <a:close/>
                </a:path>
              </a:pathLst>
            </a:custGeom>
            <a:solidFill>
              <a:srgbClr val="000000"/>
            </a:solidFill>
          </p:spPr>
        </p:sp>
        <p:sp>
          <p:nvSpPr>
            <p:cNvPr name="Freeform 13" id="13"/>
            <p:cNvSpPr/>
            <p:nvPr/>
          </p:nvSpPr>
          <p:spPr>
            <a:xfrm flipH="false" flipV="false" rot="0">
              <a:off x="0" y="0"/>
              <a:ext cx="1437132" cy="7945628"/>
            </a:xfrm>
            <a:custGeom>
              <a:avLst/>
              <a:gdLst/>
              <a:ahLst/>
              <a:cxnLst/>
              <a:rect r="r" b="b" t="t" l="l"/>
              <a:pathLst>
                <a:path h="7945628" w="1437132">
                  <a:moveTo>
                    <a:pt x="12700" y="25400"/>
                  </a:moveTo>
                  <a:lnTo>
                    <a:pt x="12700" y="12700"/>
                  </a:lnTo>
                  <a:lnTo>
                    <a:pt x="12700" y="0"/>
                  </a:lnTo>
                  <a:cubicBezTo>
                    <a:pt x="391287" y="0"/>
                    <a:pt x="731266" y="49657"/>
                    <a:pt x="731266" y="132080"/>
                  </a:cubicBezTo>
                  <a:lnTo>
                    <a:pt x="731266" y="3853434"/>
                  </a:lnTo>
                  <a:lnTo>
                    <a:pt x="718566" y="3853434"/>
                  </a:lnTo>
                  <a:lnTo>
                    <a:pt x="731266" y="3853434"/>
                  </a:lnTo>
                  <a:cubicBezTo>
                    <a:pt x="731266" y="3902964"/>
                    <a:pt x="1023239" y="3960114"/>
                    <a:pt x="1424432" y="3960114"/>
                  </a:cubicBezTo>
                  <a:lnTo>
                    <a:pt x="1424432" y="3972814"/>
                  </a:lnTo>
                  <a:lnTo>
                    <a:pt x="1424432" y="3985514"/>
                  </a:lnTo>
                  <a:lnTo>
                    <a:pt x="1424432" y="3972814"/>
                  </a:lnTo>
                  <a:lnTo>
                    <a:pt x="1424432" y="3985514"/>
                  </a:lnTo>
                  <a:cubicBezTo>
                    <a:pt x="1023366" y="3985514"/>
                    <a:pt x="731266" y="4042664"/>
                    <a:pt x="731266" y="4092194"/>
                  </a:cubicBezTo>
                  <a:lnTo>
                    <a:pt x="718566" y="4092194"/>
                  </a:lnTo>
                  <a:lnTo>
                    <a:pt x="731266" y="4092194"/>
                  </a:lnTo>
                  <a:lnTo>
                    <a:pt x="731266" y="7813548"/>
                  </a:lnTo>
                  <a:lnTo>
                    <a:pt x="718566" y="7813548"/>
                  </a:lnTo>
                  <a:lnTo>
                    <a:pt x="731266" y="7813548"/>
                  </a:lnTo>
                  <a:cubicBezTo>
                    <a:pt x="731266" y="7895971"/>
                    <a:pt x="391287" y="7945628"/>
                    <a:pt x="12700" y="7945628"/>
                  </a:cubicBezTo>
                  <a:lnTo>
                    <a:pt x="12700" y="7920228"/>
                  </a:lnTo>
                  <a:cubicBezTo>
                    <a:pt x="413766" y="7920228"/>
                    <a:pt x="705866" y="7863078"/>
                    <a:pt x="705866" y="7813548"/>
                  </a:cubicBezTo>
                  <a:lnTo>
                    <a:pt x="705866" y="4092194"/>
                  </a:lnTo>
                  <a:cubicBezTo>
                    <a:pt x="705866" y="4009771"/>
                    <a:pt x="1045845" y="3960114"/>
                    <a:pt x="1424432" y="3960114"/>
                  </a:cubicBezTo>
                  <a:cubicBezTo>
                    <a:pt x="1431417" y="3960114"/>
                    <a:pt x="1437132" y="3965829"/>
                    <a:pt x="1437132" y="3972814"/>
                  </a:cubicBezTo>
                  <a:cubicBezTo>
                    <a:pt x="1437132" y="3979799"/>
                    <a:pt x="1431417" y="3985514"/>
                    <a:pt x="1424432" y="3985514"/>
                  </a:cubicBezTo>
                  <a:cubicBezTo>
                    <a:pt x="1045845" y="3985514"/>
                    <a:pt x="705866" y="3935857"/>
                    <a:pt x="705866" y="3853434"/>
                  </a:cubicBezTo>
                  <a:lnTo>
                    <a:pt x="705866" y="132080"/>
                  </a:lnTo>
                  <a:lnTo>
                    <a:pt x="718566" y="132080"/>
                  </a:lnTo>
                  <a:lnTo>
                    <a:pt x="705866" y="132080"/>
                  </a:lnTo>
                  <a:cubicBezTo>
                    <a:pt x="705866" y="82550"/>
                    <a:pt x="413766" y="25400"/>
                    <a:pt x="12700" y="25400"/>
                  </a:cubicBezTo>
                  <a:cubicBezTo>
                    <a:pt x="5715" y="25400"/>
                    <a:pt x="0" y="19685"/>
                    <a:pt x="0" y="12700"/>
                  </a:cubicBezTo>
                  <a:cubicBezTo>
                    <a:pt x="0" y="5715"/>
                    <a:pt x="5715" y="0"/>
                    <a:pt x="12700" y="0"/>
                  </a:cubicBezTo>
                  <a:close/>
                </a:path>
              </a:pathLst>
            </a:custGeom>
            <a:solidFill>
              <a:srgbClr val="000000"/>
            </a:solidFill>
          </p:spPr>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028700" y="2173417"/>
            <a:ext cx="2744676" cy="5940166"/>
            <a:chOff x="0" y="0"/>
            <a:chExt cx="3659568" cy="7920221"/>
          </a:xfrm>
        </p:grpSpPr>
        <p:sp>
          <p:nvSpPr>
            <p:cNvPr name="Freeform 3" id="3"/>
            <p:cNvSpPr/>
            <p:nvPr/>
          </p:nvSpPr>
          <p:spPr>
            <a:xfrm flipH="false" flipV="false" rot="0">
              <a:off x="0" y="0"/>
              <a:ext cx="3659505" cy="7920228"/>
            </a:xfrm>
            <a:custGeom>
              <a:avLst/>
              <a:gdLst/>
              <a:ahLst/>
              <a:cxnLst/>
              <a:rect r="r" b="b" t="t" l="l"/>
              <a:pathLst>
                <a:path h="7920228" w="3659505">
                  <a:moveTo>
                    <a:pt x="0" y="0"/>
                  </a:moveTo>
                  <a:lnTo>
                    <a:pt x="3659505" y="0"/>
                  </a:lnTo>
                  <a:lnTo>
                    <a:pt x="3659505" y="7920228"/>
                  </a:lnTo>
                  <a:lnTo>
                    <a:pt x="0" y="7920228"/>
                  </a:lnTo>
                  <a:lnTo>
                    <a:pt x="0" y="0"/>
                  </a:lnTo>
                  <a:close/>
                </a:path>
              </a:pathLst>
            </a:custGeom>
            <a:blipFill>
              <a:blip r:embed="rId3"/>
              <a:stretch>
                <a:fillRect l="0" t="0" r="-1" b="0"/>
              </a:stretch>
            </a:blipFill>
          </p:spPr>
        </p:sp>
      </p:grpSp>
      <p:sp>
        <p:nvSpPr>
          <p:cNvPr name="TextBox 4" id="4"/>
          <p:cNvSpPr txBox="true"/>
          <p:nvPr/>
        </p:nvSpPr>
        <p:spPr>
          <a:xfrm rot="0">
            <a:off x="8434888" y="4120802"/>
            <a:ext cx="3023768" cy="1931074"/>
          </a:xfrm>
          <a:prstGeom prst="rect">
            <a:avLst/>
          </a:prstGeom>
        </p:spPr>
        <p:txBody>
          <a:bodyPr anchor="t" rtlCol="false" tIns="0" lIns="0" bIns="0" rIns="0">
            <a:spAutoFit/>
          </a:bodyPr>
          <a:lstStyle/>
          <a:p>
            <a:pPr algn="ctr">
              <a:lnSpc>
                <a:spcPts val="6719"/>
              </a:lnSpc>
            </a:pPr>
            <a:r>
              <a:rPr lang="en-US" sz="5599">
                <a:solidFill>
                  <a:srgbClr val="000000"/>
                </a:solidFill>
                <a:latin typeface="Arial MT Pro"/>
                <a:ea typeface="Arial MT Pro"/>
                <a:cs typeface="Arial MT Pro"/>
                <a:sym typeface="Arial MT Pro"/>
              </a:rPr>
              <a:t>Ask</a:t>
            </a:r>
          </a:p>
          <a:p>
            <a:pPr algn="ctr">
              <a:lnSpc>
                <a:spcPts val="6719"/>
              </a:lnSpc>
            </a:pPr>
            <a:r>
              <a:rPr lang="en-US" sz="5599">
                <a:solidFill>
                  <a:srgbClr val="000000"/>
                </a:solidFill>
                <a:latin typeface="Arial MT Pro"/>
                <a:ea typeface="Arial MT Pro"/>
                <a:cs typeface="Arial MT Pro"/>
                <a:sym typeface="Arial MT Pro"/>
              </a:rPr>
              <a:t>assistant</a:t>
            </a:r>
          </a:p>
        </p:txBody>
      </p:sp>
      <p:grpSp>
        <p:nvGrpSpPr>
          <p:cNvPr name="Group 5" id="5"/>
          <p:cNvGrpSpPr/>
          <p:nvPr/>
        </p:nvGrpSpPr>
        <p:grpSpPr>
          <a:xfrm rot="0">
            <a:off x="7234553" y="2163887"/>
            <a:ext cx="1077828" cy="5959212"/>
            <a:chOff x="0" y="0"/>
            <a:chExt cx="1437104" cy="7945616"/>
          </a:xfrm>
        </p:grpSpPr>
        <p:sp>
          <p:nvSpPr>
            <p:cNvPr name="Freeform 6" id="6"/>
            <p:cNvSpPr/>
            <p:nvPr/>
          </p:nvSpPr>
          <p:spPr>
            <a:xfrm flipH="false" flipV="false" rot="0">
              <a:off x="0" y="0"/>
              <a:ext cx="1437132" cy="7945628"/>
            </a:xfrm>
            <a:custGeom>
              <a:avLst/>
              <a:gdLst/>
              <a:ahLst/>
              <a:cxnLst/>
              <a:rect r="r" b="b" t="t" l="l"/>
              <a:pathLst>
                <a:path h="7945628" w="1437132">
                  <a:moveTo>
                    <a:pt x="12700" y="25400"/>
                  </a:moveTo>
                  <a:lnTo>
                    <a:pt x="12700" y="12700"/>
                  </a:lnTo>
                  <a:lnTo>
                    <a:pt x="12700" y="0"/>
                  </a:lnTo>
                  <a:cubicBezTo>
                    <a:pt x="391287" y="0"/>
                    <a:pt x="731266" y="49657"/>
                    <a:pt x="731266" y="132080"/>
                  </a:cubicBezTo>
                  <a:lnTo>
                    <a:pt x="731266" y="3853434"/>
                  </a:lnTo>
                  <a:lnTo>
                    <a:pt x="718566" y="3853434"/>
                  </a:lnTo>
                  <a:lnTo>
                    <a:pt x="731266" y="3853434"/>
                  </a:lnTo>
                  <a:cubicBezTo>
                    <a:pt x="731266" y="3902964"/>
                    <a:pt x="1023239" y="3960114"/>
                    <a:pt x="1424432" y="3960114"/>
                  </a:cubicBezTo>
                  <a:lnTo>
                    <a:pt x="1424432" y="3972814"/>
                  </a:lnTo>
                  <a:lnTo>
                    <a:pt x="1424432" y="3985514"/>
                  </a:lnTo>
                  <a:lnTo>
                    <a:pt x="1424432" y="3972814"/>
                  </a:lnTo>
                  <a:lnTo>
                    <a:pt x="1424432" y="3985514"/>
                  </a:lnTo>
                  <a:cubicBezTo>
                    <a:pt x="1023366" y="3985514"/>
                    <a:pt x="731266" y="4042664"/>
                    <a:pt x="731266" y="4092194"/>
                  </a:cubicBezTo>
                  <a:lnTo>
                    <a:pt x="718566" y="4092194"/>
                  </a:lnTo>
                  <a:lnTo>
                    <a:pt x="731266" y="4092194"/>
                  </a:lnTo>
                  <a:lnTo>
                    <a:pt x="731266" y="7813548"/>
                  </a:lnTo>
                  <a:lnTo>
                    <a:pt x="718566" y="7813548"/>
                  </a:lnTo>
                  <a:lnTo>
                    <a:pt x="731266" y="7813548"/>
                  </a:lnTo>
                  <a:cubicBezTo>
                    <a:pt x="731266" y="7895971"/>
                    <a:pt x="391287" y="7945628"/>
                    <a:pt x="12700" y="7945628"/>
                  </a:cubicBezTo>
                  <a:cubicBezTo>
                    <a:pt x="5715" y="7945628"/>
                    <a:pt x="0" y="7939913"/>
                    <a:pt x="0" y="7932928"/>
                  </a:cubicBezTo>
                  <a:lnTo>
                    <a:pt x="0" y="12700"/>
                  </a:lnTo>
                  <a:lnTo>
                    <a:pt x="12700" y="12700"/>
                  </a:lnTo>
                  <a:lnTo>
                    <a:pt x="12700" y="25400"/>
                  </a:lnTo>
                  <a:moveTo>
                    <a:pt x="12700" y="0"/>
                  </a:moveTo>
                  <a:cubicBezTo>
                    <a:pt x="19685" y="0"/>
                    <a:pt x="25400" y="5715"/>
                    <a:pt x="25400" y="12700"/>
                  </a:cubicBezTo>
                  <a:lnTo>
                    <a:pt x="25400" y="7932928"/>
                  </a:lnTo>
                  <a:lnTo>
                    <a:pt x="12700" y="7932928"/>
                  </a:lnTo>
                  <a:lnTo>
                    <a:pt x="12700" y="7920228"/>
                  </a:lnTo>
                  <a:cubicBezTo>
                    <a:pt x="413766" y="7920228"/>
                    <a:pt x="705866" y="7863078"/>
                    <a:pt x="705866" y="7813548"/>
                  </a:cubicBezTo>
                  <a:lnTo>
                    <a:pt x="705866" y="4092194"/>
                  </a:lnTo>
                  <a:cubicBezTo>
                    <a:pt x="705866" y="4009771"/>
                    <a:pt x="1045845" y="3960114"/>
                    <a:pt x="1424432" y="3960114"/>
                  </a:cubicBezTo>
                  <a:cubicBezTo>
                    <a:pt x="1431417" y="3960114"/>
                    <a:pt x="1437132" y="3965829"/>
                    <a:pt x="1437132" y="3972814"/>
                  </a:cubicBezTo>
                  <a:cubicBezTo>
                    <a:pt x="1437132" y="3979799"/>
                    <a:pt x="1431417" y="3985514"/>
                    <a:pt x="1424432" y="3985514"/>
                  </a:cubicBezTo>
                  <a:cubicBezTo>
                    <a:pt x="1045845" y="3985514"/>
                    <a:pt x="705866" y="3935857"/>
                    <a:pt x="705866" y="3853434"/>
                  </a:cubicBezTo>
                  <a:lnTo>
                    <a:pt x="705866" y="132080"/>
                  </a:lnTo>
                  <a:lnTo>
                    <a:pt x="718566" y="132080"/>
                  </a:lnTo>
                  <a:lnTo>
                    <a:pt x="705866" y="132080"/>
                  </a:lnTo>
                  <a:cubicBezTo>
                    <a:pt x="705866" y="82550"/>
                    <a:pt x="413766" y="25400"/>
                    <a:pt x="12700" y="25400"/>
                  </a:cubicBezTo>
                  <a:cubicBezTo>
                    <a:pt x="5715" y="25400"/>
                    <a:pt x="0" y="19685"/>
                    <a:pt x="0" y="12700"/>
                  </a:cubicBezTo>
                  <a:cubicBezTo>
                    <a:pt x="0" y="5715"/>
                    <a:pt x="5715" y="0"/>
                    <a:pt x="12700" y="0"/>
                  </a:cubicBezTo>
                  <a:close/>
                </a:path>
              </a:pathLst>
            </a:custGeom>
            <a:solidFill>
              <a:srgbClr val="000000"/>
            </a:solidFill>
          </p:spPr>
        </p:sp>
        <p:sp>
          <p:nvSpPr>
            <p:cNvPr name="Freeform 7" id="7"/>
            <p:cNvSpPr/>
            <p:nvPr/>
          </p:nvSpPr>
          <p:spPr>
            <a:xfrm flipH="false" flipV="false" rot="0">
              <a:off x="0" y="0"/>
              <a:ext cx="1437132" cy="7945628"/>
            </a:xfrm>
            <a:custGeom>
              <a:avLst/>
              <a:gdLst/>
              <a:ahLst/>
              <a:cxnLst/>
              <a:rect r="r" b="b" t="t" l="l"/>
              <a:pathLst>
                <a:path h="7945628" w="1437132">
                  <a:moveTo>
                    <a:pt x="12700" y="25400"/>
                  </a:moveTo>
                  <a:lnTo>
                    <a:pt x="12700" y="12700"/>
                  </a:lnTo>
                  <a:lnTo>
                    <a:pt x="12700" y="0"/>
                  </a:lnTo>
                  <a:cubicBezTo>
                    <a:pt x="391287" y="0"/>
                    <a:pt x="731266" y="49657"/>
                    <a:pt x="731266" y="132080"/>
                  </a:cubicBezTo>
                  <a:lnTo>
                    <a:pt x="731266" y="3853434"/>
                  </a:lnTo>
                  <a:lnTo>
                    <a:pt x="718566" y="3853434"/>
                  </a:lnTo>
                  <a:lnTo>
                    <a:pt x="731266" y="3853434"/>
                  </a:lnTo>
                  <a:cubicBezTo>
                    <a:pt x="731266" y="3902964"/>
                    <a:pt x="1023239" y="3960114"/>
                    <a:pt x="1424432" y="3960114"/>
                  </a:cubicBezTo>
                  <a:lnTo>
                    <a:pt x="1424432" y="3972814"/>
                  </a:lnTo>
                  <a:lnTo>
                    <a:pt x="1424432" y="3985514"/>
                  </a:lnTo>
                  <a:lnTo>
                    <a:pt x="1424432" y="3972814"/>
                  </a:lnTo>
                  <a:lnTo>
                    <a:pt x="1424432" y="3985514"/>
                  </a:lnTo>
                  <a:cubicBezTo>
                    <a:pt x="1023366" y="3985514"/>
                    <a:pt x="731266" y="4042664"/>
                    <a:pt x="731266" y="4092194"/>
                  </a:cubicBezTo>
                  <a:lnTo>
                    <a:pt x="718566" y="4092194"/>
                  </a:lnTo>
                  <a:lnTo>
                    <a:pt x="731266" y="4092194"/>
                  </a:lnTo>
                  <a:lnTo>
                    <a:pt x="731266" y="7813548"/>
                  </a:lnTo>
                  <a:lnTo>
                    <a:pt x="718566" y="7813548"/>
                  </a:lnTo>
                  <a:lnTo>
                    <a:pt x="731266" y="7813548"/>
                  </a:lnTo>
                  <a:cubicBezTo>
                    <a:pt x="731266" y="7895971"/>
                    <a:pt x="391287" y="7945628"/>
                    <a:pt x="12700" y="7945628"/>
                  </a:cubicBezTo>
                  <a:lnTo>
                    <a:pt x="12700" y="7920228"/>
                  </a:lnTo>
                  <a:cubicBezTo>
                    <a:pt x="413766" y="7920228"/>
                    <a:pt x="705866" y="7863078"/>
                    <a:pt x="705866" y="7813548"/>
                  </a:cubicBezTo>
                  <a:lnTo>
                    <a:pt x="705866" y="4092194"/>
                  </a:lnTo>
                  <a:cubicBezTo>
                    <a:pt x="705866" y="4009771"/>
                    <a:pt x="1045845" y="3960114"/>
                    <a:pt x="1424432" y="3960114"/>
                  </a:cubicBezTo>
                  <a:cubicBezTo>
                    <a:pt x="1431417" y="3960114"/>
                    <a:pt x="1437132" y="3965829"/>
                    <a:pt x="1437132" y="3972814"/>
                  </a:cubicBezTo>
                  <a:cubicBezTo>
                    <a:pt x="1437132" y="3979799"/>
                    <a:pt x="1431417" y="3985514"/>
                    <a:pt x="1424432" y="3985514"/>
                  </a:cubicBezTo>
                  <a:cubicBezTo>
                    <a:pt x="1045845" y="3985514"/>
                    <a:pt x="705866" y="3935857"/>
                    <a:pt x="705866" y="3853434"/>
                  </a:cubicBezTo>
                  <a:lnTo>
                    <a:pt x="705866" y="132080"/>
                  </a:lnTo>
                  <a:lnTo>
                    <a:pt x="718566" y="132080"/>
                  </a:lnTo>
                  <a:lnTo>
                    <a:pt x="705866" y="132080"/>
                  </a:lnTo>
                  <a:cubicBezTo>
                    <a:pt x="705866" y="82550"/>
                    <a:pt x="413766" y="25400"/>
                    <a:pt x="12700" y="25400"/>
                  </a:cubicBezTo>
                  <a:cubicBezTo>
                    <a:pt x="5715" y="25400"/>
                    <a:pt x="0" y="19685"/>
                    <a:pt x="0" y="12700"/>
                  </a:cubicBezTo>
                  <a:cubicBezTo>
                    <a:pt x="0" y="5715"/>
                    <a:pt x="5715" y="0"/>
                    <a:pt x="12700" y="0"/>
                  </a:cubicBezTo>
                  <a:close/>
                </a:path>
              </a:pathLst>
            </a:custGeom>
            <a:solidFill>
              <a:srgbClr val="000000"/>
            </a:solidFill>
          </p:spPr>
        </p:sp>
      </p:grpSp>
      <p:grpSp>
        <p:nvGrpSpPr>
          <p:cNvPr name="Group 8" id="8"/>
          <p:cNvGrpSpPr>
            <a:grpSpLocks noChangeAspect="true"/>
          </p:cNvGrpSpPr>
          <p:nvPr/>
        </p:nvGrpSpPr>
        <p:grpSpPr>
          <a:xfrm rot="0">
            <a:off x="4548186" y="2173412"/>
            <a:ext cx="2744676" cy="5940168"/>
            <a:chOff x="0" y="0"/>
            <a:chExt cx="3659568" cy="7920224"/>
          </a:xfrm>
        </p:grpSpPr>
        <p:sp>
          <p:nvSpPr>
            <p:cNvPr name="Freeform 9" id="9"/>
            <p:cNvSpPr/>
            <p:nvPr/>
          </p:nvSpPr>
          <p:spPr>
            <a:xfrm flipH="false" flipV="false" rot="0">
              <a:off x="0" y="0"/>
              <a:ext cx="3659505" cy="7920228"/>
            </a:xfrm>
            <a:custGeom>
              <a:avLst/>
              <a:gdLst/>
              <a:ahLst/>
              <a:cxnLst/>
              <a:rect r="r" b="b" t="t" l="l"/>
              <a:pathLst>
                <a:path h="7920228" w="3659505">
                  <a:moveTo>
                    <a:pt x="0" y="0"/>
                  </a:moveTo>
                  <a:lnTo>
                    <a:pt x="3659505" y="0"/>
                  </a:lnTo>
                  <a:lnTo>
                    <a:pt x="3659505" y="7920228"/>
                  </a:lnTo>
                  <a:lnTo>
                    <a:pt x="0" y="7920228"/>
                  </a:lnTo>
                  <a:lnTo>
                    <a:pt x="0" y="0"/>
                  </a:lnTo>
                  <a:close/>
                </a:path>
              </a:pathLst>
            </a:custGeom>
            <a:blipFill>
              <a:blip r:embed="rId4"/>
              <a:stretch>
                <a:fillRect l="0" t="0" r="-1" b="0"/>
              </a:stretch>
            </a:blipFill>
          </p:spPr>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991435" y="2173417"/>
            <a:ext cx="2744676" cy="5940166"/>
            <a:chOff x="0" y="0"/>
            <a:chExt cx="3659568" cy="7920221"/>
          </a:xfrm>
        </p:grpSpPr>
        <p:sp>
          <p:nvSpPr>
            <p:cNvPr name="Freeform 3" id="3"/>
            <p:cNvSpPr/>
            <p:nvPr/>
          </p:nvSpPr>
          <p:spPr>
            <a:xfrm flipH="false" flipV="false" rot="0">
              <a:off x="0" y="0"/>
              <a:ext cx="3659505" cy="7920228"/>
            </a:xfrm>
            <a:custGeom>
              <a:avLst/>
              <a:gdLst/>
              <a:ahLst/>
              <a:cxnLst/>
              <a:rect r="r" b="b" t="t" l="l"/>
              <a:pathLst>
                <a:path h="7920228" w="3659505">
                  <a:moveTo>
                    <a:pt x="0" y="0"/>
                  </a:moveTo>
                  <a:lnTo>
                    <a:pt x="3659505" y="0"/>
                  </a:lnTo>
                  <a:lnTo>
                    <a:pt x="3659505" y="7920228"/>
                  </a:lnTo>
                  <a:lnTo>
                    <a:pt x="0" y="7920228"/>
                  </a:lnTo>
                  <a:lnTo>
                    <a:pt x="0" y="0"/>
                  </a:lnTo>
                  <a:close/>
                </a:path>
              </a:pathLst>
            </a:custGeom>
            <a:blipFill>
              <a:blip r:embed="rId3"/>
              <a:stretch>
                <a:fillRect l="0" t="0" r="-1" b="0"/>
              </a:stretch>
            </a:blipFill>
          </p:spPr>
        </p:sp>
      </p:grpSp>
      <p:sp>
        <p:nvSpPr>
          <p:cNvPr name="TextBox 4" id="4"/>
          <p:cNvSpPr txBox="true"/>
          <p:nvPr/>
        </p:nvSpPr>
        <p:spPr>
          <a:xfrm rot="0">
            <a:off x="8713812" y="4120802"/>
            <a:ext cx="2465924" cy="1931074"/>
          </a:xfrm>
          <a:prstGeom prst="rect">
            <a:avLst/>
          </a:prstGeom>
        </p:spPr>
        <p:txBody>
          <a:bodyPr anchor="t" rtlCol="false" tIns="0" lIns="0" bIns="0" rIns="0">
            <a:spAutoFit/>
          </a:bodyPr>
          <a:lstStyle/>
          <a:p>
            <a:pPr algn="ctr">
              <a:lnSpc>
                <a:spcPts val="6719"/>
              </a:lnSpc>
            </a:pPr>
            <a:r>
              <a:rPr lang="en-US" sz="5599">
                <a:solidFill>
                  <a:srgbClr val="000000"/>
                </a:solidFill>
                <a:latin typeface="Arial MT Pro"/>
                <a:ea typeface="Arial MT Pro"/>
                <a:cs typeface="Arial MT Pro"/>
                <a:sym typeface="Arial MT Pro"/>
              </a:rPr>
              <a:t>View</a:t>
            </a:r>
          </a:p>
          <a:p>
            <a:pPr algn="ctr">
              <a:lnSpc>
                <a:spcPts val="6719"/>
              </a:lnSpc>
            </a:pPr>
            <a:r>
              <a:rPr lang="en-US" sz="5599">
                <a:solidFill>
                  <a:srgbClr val="000000"/>
                </a:solidFill>
                <a:latin typeface="Arial MT Pro"/>
                <a:ea typeface="Arial MT Pro"/>
                <a:cs typeface="Arial MT Pro"/>
                <a:sym typeface="Arial MT Pro"/>
              </a:rPr>
              <a:t>passes</a:t>
            </a:r>
          </a:p>
        </p:txBody>
      </p:sp>
      <p:grpSp>
        <p:nvGrpSpPr>
          <p:cNvPr name="Group 5" id="5"/>
          <p:cNvGrpSpPr/>
          <p:nvPr/>
        </p:nvGrpSpPr>
        <p:grpSpPr>
          <a:xfrm rot="0">
            <a:off x="6727601" y="2163887"/>
            <a:ext cx="1584780" cy="5959212"/>
            <a:chOff x="0" y="0"/>
            <a:chExt cx="2113040" cy="7945616"/>
          </a:xfrm>
        </p:grpSpPr>
        <p:sp>
          <p:nvSpPr>
            <p:cNvPr name="Freeform 6" id="6"/>
            <p:cNvSpPr/>
            <p:nvPr/>
          </p:nvSpPr>
          <p:spPr>
            <a:xfrm flipH="false" flipV="false" rot="0">
              <a:off x="0" y="0"/>
              <a:ext cx="2113068" cy="7945628"/>
            </a:xfrm>
            <a:custGeom>
              <a:avLst/>
              <a:gdLst/>
              <a:ahLst/>
              <a:cxnLst/>
              <a:rect r="r" b="b" t="t" l="l"/>
              <a:pathLst>
                <a:path h="7945628" w="2113068">
                  <a:moveTo>
                    <a:pt x="18673" y="25400"/>
                  </a:moveTo>
                  <a:lnTo>
                    <a:pt x="18673" y="12700"/>
                  </a:lnTo>
                  <a:lnTo>
                    <a:pt x="18673" y="0"/>
                  </a:lnTo>
                  <a:cubicBezTo>
                    <a:pt x="575327" y="0"/>
                    <a:pt x="1075214" y="49657"/>
                    <a:pt x="1075214" y="132080"/>
                  </a:cubicBezTo>
                  <a:lnTo>
                    <a:pt x="1075214" y="3853434"/>
                  </a:lnTo>
                  <a:lnTo>
                    <a:pt x="1056541" y="3853434"/>
                  </a:lnTo>
                  <a:lnTo>
                    <a:pt x="1075214" y="3853434"/>
                  </a:lnTo>
                  <a:cubicBezTo>
                    <a:pt x="1075214" y="3902964"/>
                    <a:pt x="1504515" y="3960114"/>
                    <a:pt x="2094408" y="3960114"/>
                  </a:cubicBezTo>
                  <a:lnTo>
                    <a:pt x="2094408" y="3972814"/>
                  </a:lnTo>
                  <a:lnTo>
                    <a:pt x="2094408" y="3985514"/>
                  </a:lnTo>
                  <a:lnTo>
                    <a:pt x="2094408" y="3972814"/>
                  </a:lnTo>
                  <a:lnTo>
                    <a:pt x="2094408" y="3985514"/>
                  </a:lnTo>
                  <a:cubicBezTo>
                    <a:pt x="1504702" y="3985514"/>
                    <a:pt x="1075214" y="4042664"/>
                    <a:pt x="1075214" y="4092194"/>
                  </a:cubicBezTo>
                  <a:lnTo>
                    <a:pt x="1056541" y="4092194"/>
                  </a:lnTo>
                  <a:lnTo>
                    <a:pt x="1075214" y="4092194"/>
                  </a:lnTo>
                  <a:lnTo>
                    <a:pt x="1075214" y="7813548"/>
                  </a:lnTo>
                  <a:lnTo>
                    <a:pt x="1056541" y="7813548"/>
                  </a:lnTo>
                  <a:lnTo>
                    <a:pt x="1075214" y="7813548"/>
                  </a:lnTo>
                  <a:cubicBezTo>
                    <a:pt x="1075214" y="7895971"/>
                    <a:pt x="575327" y="7945628"/>
                    <a:pt x="18673" y="7945628"/>
                  </a:cubicBezTo>
                  <a:cubicBezTo>
                    <a:pt x="8403" y="7945628"/>
                    <a:pt x="0" y="7939913"/>
                    <a:pt x="0" y="7932928"/>
                  </a:cubicBezTo>
                  <a:lnTo>
                    <a:pt x="0" y="12700"/>
                  </a:lnTo>
                  <a:lnTo>
                    <a:pt x="18673" y="12700"/>
                  </a:lnTo>
                  <a:lnTo>
                    <a:pt x="18673" y="25400"/>
                  </a:lnTo>
                  <a:moveTo>
                    <a:pt x="18673" y="0"/>
                  </a:moveTo>
                  <a:cubicBezTo>
                    <a:pt x="28944" y="0"/>
                    <a:pt x="37347" y="5715"/>
                    <a:pt x="37347" y="12700"/>
                  </a:cubicBezTo>
                  <a:lnTo>
                    <a:pt x="37347" y="7932928"/>
                  </a:lnTo>
                  <a:lnTo>
                    <a:pt x="18673" y="7932928"/>
                  </a:lnTo>
                  <a:lnTo>
                    <a:pt x="18673" y="7920228"/>
                  </a:lnTo>
                  <a:cubicBezTo>
                    <a:pt x="608379" y="7920228"/>
                    <a:pt x="1037867" y="7863078"/>
                    <a:pt x="1037867" y="7813548"/>
                  </a:cubicBezTo>
                  <a:lnTo>
                    <a:pt x="1037867" y="4092194"/>
                  </a:lnTo>
                  <a:cubicBezTo>
                    <a:pt x="1037867" y="4009771"/>
                    <a:pt x="1537754" y="3960114"/>
                    <a:pt x="2094408" y="3960114"/>
                  </a:cubicBezTo>
                  <a:cubicBezTo>
                    <a:pt x="2104678" y="3960114"/>
                    <a:pt x="2113068" y="3965829"/>
                    <a:pt x="2113068" y="3972814"/>
                  </a:cubicBezTo>
                  <a:cubicBezTo>
                    <a:pt x="2113068" y="3979799"/>
                    <a:pt x="2104678" y="3985514"/>
                    <a:pt x="2094408" y="3985514"/>
                  </a:cubicBezTo>
                  <a:cubicBezTo>
                    <a:pt x="1537754" y="3985514"/>
                    <a:pt x="1037867" y="3935857"/>
                    <a:pt x="1037867" y="3853434"/>
                  </a:cubicBezTo>
                  <a:lnTo>
                    <a:pt x="1037867" y="132080"/>
                  </a:lnTo>
                  <a:lnTo>
                    <a:pt x="1056541" y="132080"/>
                  </a:lnTo>
                  <a:lnTo>
                    <a:pt x="1037867" y="132080"/>
                  </a:lnTo>
                  <a:cubicBezTo>
                    <a:pt x="1037867" y="82550"/>
                    <a:pt x="608379" y="25400"/>
                    <a:pt x="18673" y="25400"/>
                  </a:cubicBezTo>
                  <a:cubicBezTo>
                    <a:pt x="8403" y="25400"/>
                    <a:pt x="0" y="19685"/>
                    <a:pt x="0" y="12700"/>
                  </a:cubicBezTo>
                  <a:cubicBezTo>
                    <a:pt x="0" y="5715"/>
                    <a:pt x="8403" y="0"/>
                    <a:pt x="18673" y="0"/>
                  </a:cubicBezTo>
                  <a:close/>
                </a:path>
              </a:pathLst>
            </a:custGeom>
            <a:solidFill>
              <a:srgbClr val="000000"/>
            </a:solidFill>
          </p:spPr>
        </p:sp>
        <p:sp>
          <p:nvSpPr>
            <p:cNvPr name="Freeform 7" id="7"/>
            <p:cNvSpPr/>
            <p:nvPr/>
          </p:nvSpPr>
          <p:spPr>
            <a:xfrm flipH="false" flipV="false" rot="0">
              <a:off x="0" y="0"/>
              <a:ext cx="2113068" cy="7945628"/>
            </a:xfrm>
            <a:custGeom>
              <a:avLst/>
              <a:gdLst/>
              <a:ahLst/>
              <a:cxnLst/>
              <a:rect r="r" b="b" t="t" l="l"/>
              <a:pathLst>
                <a:path h="7945628" w="2113068">
                  <a:moveTo>
                    <a:pt x="18673" y="25400"/>
                  </a:moveTo>
                  <a:lnTo>
                    <a:pt x="18673" y="12700"/>
                  </a:lnTo>
                  <a:lnTo>
                    <a:pt x="18673" y="0"/>
                  </a:lnTo>
                  <a:cubicBezTo>
                    <a:pt x="575327" y="0"/>
                    <a:pt x="1075214" y="49657"/>
                    <a:pt x="1075214" y="132080"/>
                  </a:cubicBezTo>
                  <a:lnTo>
                    <a:pt x="1075214" y="3853434"/>
                  </a:lnTo>
                  <a:lnTo>
                    <a:pt x="1056541" y="3853434"/>
                  </a:lnTo>
                  <a:lnTo>
                    <a:pt x="1075214" y="3853434"/>
                  </a:lnTo>
                  <a:cubicBezTo>
                    <a:pt x="1075214" y="3902964"/>
                    <a:pt x="1504515" y="3960114"/>
                    <a:pt x="2094408" y="3960114"/>
                  </a:cubicBezTo>
                  <a:lnTo>
                    <a:pt x="2094408" y="3972814"/>
                  </a:lnTo>
                  <a:lnTo>
                    <a:pt x="2094408" y="3985514"/>
                  </a:lnTo>
                  <a:lnTo>
                    <a:pt x="2094408" y="3972814"/>
                  </a:lnTo>
                  <a:lnTo>
                    <a:pt x="2094408" y="3985514"/>
                  </a:lnTo>
                  <a:cubicBezTo>
                    <a:pt x="1504702" y="3985514"/>
                    <a:pt x="1075214" y="4042664"/>
                    <a:pt x="1075214" y="4092194"/>
                  </a:cubicBezTo>
                  <a:lnTo>
                    <a:pt x="1056541" y="4092194"/>
                  </a:lnTo>
                  <a:lnTo>
                    <a:pt x="1075214" y="4092194"/>
                  </a:lnTo>
                  <a:lnTo>
                    <a:pt x="1075214" y="7813548"/>
                  </a:lnTo>
                  <a:lnTo>
                    <a:pt x="1056541" y="7813548"/>
                  </a:lnTo>
                  <a:lnTo>
                    <a:pt x="1075214" y="7813548"/>
                  </a:lnTo>
                  <a:cubicBezTo>
                    <a:pt x="1075214" y="7895971"/>
                    <a:pt x="575327" y="7945628"/>
                    <a:pt x="18673" y="7945628"/>
                  </a:cubicBezTo>
                  <a:lnTo>
                    <a:pt x="18673" y="7920228"/>
                  </a:lnTo>
                  <a:cubicBezTo>
                    <a:pt x="608379" y="7920228"/>
                    <a:pt x="1037867" y="7863078"/>
                    <a:pt x="1037867" y="7813548"/>
                  </a:cubicBezTo>
                  <a:lnTo>
                    <a:pt x="1037867" y="4092194"/>
                  </a:lnTo>
                  <a:cubicBezTo>
                    <a:pt x="1037867" y="4009771"/>
                    <a:pt x="1537754" y="3960114"/>
                    <a:pt x="2094408" y="3960114"/>
                  </a:cubicBezTo>
                  <a:cubicBezTo>
                    <a:pt x="2104678" y="3960114"/>
                    <a:pt x="2113068" y="3965829"/>
                    <a:pt x="2113068" y="3972814"/>
                  </a:cubicBezTo>
                  <a:cubicBezTo>
                    <a:pt x="2113068" y="3979799"/>
                    <a:pt x="2104678" y="3985514"/>
                    <a:pt x="2094408" y="3985514"/>
                  </a:cubicBezTo>
                  <a:cubicBezTo>
                    <a:pt x="1537754" y="3985514"/>
                    <a:pt x="1037867" y="3935857"/>
                    <a:pt x="1037867" y="3853434"/>
                  </a:cubicBezTo>
                  <a:lnTo>
                    <a:pt x="1037867" y="132080"/>
                  </a:lnTo>
                  <a:lnTo>
                    <a:pt x="1056541" y="132080"/>
                  </a:lnTo>
                  <a:lnTo>
                    <a:pt x="1037867" y="132080"/>
                  </a:lnTo>
                  <a:cubicBezTo>
                    <a:pt x="1037867" y="82550"/>
                    <a:pt x="608379" y="25400"/>
                    <a:pt x="18673" y="25400"/>
                  </a:cubicBezTo>
                  <a:cubicBezTo>
                    <a:pt x="8403" y="25400"/>
                    <a:pt x="0" y="19685"/>
                    <a:pt x="0" y="12700"/>
                  </a:cubicBezTo>
                  <a:cubicBezTo>
                    <a:pt x="0" y="5715"/>
                    <a:pt x="8403" y="0"/>
                    <a:pt x="18673" y="0"/>
                  </a:cubicBezTo>
                  <a:close/>
                </a:path>
              </a:pathLst>
            </a:custGeom>
            <a:solidFill>
              <a:srgbClr val="000000"/>
            </a:solidFill>
          </p:spPr>
        </p:sp>
      </p:grpSp>
      <p:grpSp>
        <p:nvGrpSpPr>
          <p:cNvPr name="Group 8" id="8"/>
          <p:cNvGrpSpPr>
            <a:grpSpLocks noChangeAspect="true"/>
          </p:cNvGrpSpPr>
          <p:nvPr/>
        </p:nvGrpSpPr>
        <p:grpSpPr>
          <a:xfrm rot="0">
            <a:off x="4136161" y="2163887"/>
            <a:ext cx="2744674" cy="5940162"/>
            <a:chOff x="0" y="0"/>
            <a:chExt cx="3659565" cy="7920216"/>
          </a:xfrm>
        </p:grpSpPr>
        <p:sp>
          <p:nvSpPr>
            <p:cNvPr name="Freeform 9" id="9"/>
            <p:cNvSpPr/>
            <p:nvPr/>
          </p:nvSpPr>
          <p:spPr>
            <a:xfrm flipH="false" flipV="false" rot="0">
              <a:off x="0" y="0"/>
              <a:ext cx="3659505" cy="7920228"/>
            </a:xfrm>
            <a:custGeom>
              <a:avLst/>
              <a:gdLst/>
              <a:ahLst/>
              <a:cxnLst/>
              <a:rect r="r" b="b" t="t" l="l"/>
              <a:pathLst>
                <a:path h="7920228" w="3659505">
                  <a:moveTo>
                    <a:pt x="0" y="0"/>
                  </a:moveTo>
                  <a:lnTo>
                    <a:pt x="3659505" y="0"/>
                  </a:lnTo>
                  <a:lnTo>
                    <a:pt x="3659505" y="7920228"/>
                  </a:lnTo>
                  <a:lnTo>
                    <a:pt x="0" y="7920228"/>
                  </a:lnTo>
                  <a:lnTo>
                    <a:pt x="0" y="0"/>
                  </a:lnTo>
                  <a:close/>
                </a:path>
              </a:pathLst>
            </a:custGeom>
            <a:blipFill>
              <a:blip r:embed="rId4"/>
              <a:stretch>
                <a:fillRect l="0" t="0" r="-1" b="0"/>
              </a:stretch>
            </a:blipFill>
          </p:spPr>
        </p:sp>
      </p:grpSp>
    </p:spTree>
  </p:cSld>
  <p:clrMapOvr>
    <a:masterClrMapping/>
  </p:clrMapOvr>
</p:sld>
</file>

<file path=ppt/slides/slide1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6212205" y="4274503"/>
            <a:ext cx="5863590" cy="1566544"/>
          </a:xfrm>
          <a:prstGeom prst="rect">
            <a:avLst/>
          </a:prstGeom>
        </p:spPr>
        <p:txBody>
          <a:bodyPr anchor="t" rtlCol="false" tIns="0" lIns="0" bIns="0" rIns="0">
            <a:spAutoFit/>
          </a:bodyPr>
          <a:lstStyle/>
          <a:p>
            <a:pPr algn="ctr">
              <a:lnSpc>
                <a:spcPts val="12880"/>
              </a:lnSpc>
            </a:pPr>
            <a:r>
              <a:rPr lang="en-US" sz="9200" b="true">
                <a:solidFill>
                  <a:srgbClr val="000000"/>
                </a:solidFill>
                <a:latin typeface="Canva Sans Bold"/>
                <a:ea typeface="Canva Sans Bold"/>
                <a:cs typeface="Canva Sans Bold"/>
                <a:sym typeface="Canva Sans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DAGsrLglRiY</dc:identifier>
  <dcterms:modified xsi:type="dcterms:W3CDTF">2011-08-01T06:04:30Z</dcterms:modified>
  <cp:revision>1</cp:revision>
  <dc:title>Idea Submission Deck _ Agentic AI Day [Autosaved].pptx</dc:title>
</cp:coreProperties>
</file>